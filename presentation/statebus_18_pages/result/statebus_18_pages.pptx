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页：角色分开以后，前一步的工作怎样接着用？</a:t>
            </a:r>
          </a:p>
          <a:p>
            <a:r>
              <a:t>依据：introduction.md · DESIGN.md</a:t>
            </a:r>
          </a:p>
          <a:p>
            <a:r>
              <a:t>问题不在角色数量，而在资料、中间状态和处理方法能否接续。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 页：StateBus 把交接变成“步骤 + 对象 + 方法”</a:t>
            </a:r>
          </a:p>
          <a:p>
            <a:r>
              <a:t>依据：introduction.md · experiments_overview.md</a:t>
            </a:r>
          </a:p>
          <a:p>
            <a:r>
              <a:t>Runtime 安排执行；协议说清请求；Ref 定位资料和结果；Memory 留下可复用方法。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页：一次任务从输入到结论，由 Runtime 推进</a:t>
            </a:r>
          </a:p>
          <a:p>
            <a:r>
              <a:t>依据：architecture_page.md · memory_reuse.md</a:t>
            </a:r>
          </a:p>
          <a:p>
            <a:r>
              <a:t>横向读任务主线；对象、模型服务与历史记忆在各自位置接入。</a:t>
            </a:r>
          </a:p>
          <a:p>
            <a:r>
              <a:t>图是系统职责与一次任务的说明，不表示所有实验位置都触发 Planner 模型请求。模型支路依运行模式选择。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 页：四个协作问题，分别在不同位置解决</a:t>
            </a:r>
          </a:p>
          <a:p>
            <a:r>
              <a:t>依据：highlights_overview.md</a:t>
            </a:r>
          </a:p>
          <a:p>
            <a:r>
              <a:t>亮点按问题展开；Embedding、Logit、显式 KV 和 APC 各有使用条件。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页：一次交接先约定输入和输出，再交给 Worker</a:t>
            </a:r>
          </a:p>
          <a:p>
            <a:r>
              <a:t>依据：structured_protocol.md</a:t>
            </a:r>
          </a:p>
          <a:p>
            <a:r>
              <a:t>协议让接收方知道要读哪个对象、执行什么动作、按什么要求交付。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6 页：向量选出候选行，manifest 把它还原成证据</a:t>
            </a:r>
          </a:p>
          <a:p>
            <a:r>
              <a:t>依据：embedding_state.md</a:t>
            </a:r>
          </a:p>
          <a:p>
            <a:r>
              <a:t>矩阵负责排序；Executor 最终拿到的是可计算、可追溯的证据。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7 页：先看紧凑证据，拿不准时才追加材料</a:t>
            </a:r>
          </a:p>
          <a:p>
            <a:r>
              <a:t>依据：logit_state.md · results.md（专项配置）</a:t>
            </a:r>
          </a:p>
          <a:p>
            <a:r>
              <a:t>margin 看前两名差距，other_mass 看候选集合之外的概率；两者一起决定是否展开。</a:t>
            </a:r>
          </a:p>
          <a:p>
            <a:r>
              <a:t>示意中假设模型选择 A，exact probability 可用。首次门槛不足则展开完整证据；重新判断后可以接受，也可以弃答，不是 expand 后必然 abstain。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8 页：公共 parent 只计算一次，后续请求接着算</a:t>
            </a:r>
          </a:p>
          <a:p>
            <a:r>
              <a:t>依据：kv_state.md</a:t>
            </a:r>
          </a:p>
          <a:p>
            <a:r>
              <a:t>显式 KV 在同一 vLLM Worker 内通过 handle 继续使用 parent；不跨模型搬运张量。</a:t>
            </a:r>
          </a:p>
          <a:p>
            <a:r>
              <a:t>Token 条长度为计算结构示意，不表示实测 token 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9 页：复用 F01 的方法，重新计算 F02 的 2 月数据</a:t>
            </a:r>
          </a:p>
          <a:p>
            <a:r>
              <a:t>依据：memory_reuse.md · mechanisms/results.json（F02 on）</a:t>
            </a:r>
          </a:p>
          <a:p>
            <a:r>
              <a:t>历史记录提供 recipe；当前数据和新结果仍在本轮读取、执行和验证。</a:t>
            </a:r>
          </a:p>
          <a:p>
            <a:r>
              <a:t>数据来自 Memory 专项 F02 off/on。0 次是模型生成请求，不表示跳过执行；current_input_execution_observed=true。存储：SQLite 元数据/索引 + JSON，Artifact 文件保留在 workspace。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10 页：DSL 与 CodeAct 两条路径，交付同一类结果</a:t>
            </a:r>
          </a:p>
          <a:p>
            <a:r>
              <a:t>依据：codeact_execution.md · experiments_overview.md</a:t>
            </a:r>
          </a:p>
          <a:p>
            <a:r>
              <a:t>已定义变换走 DSL；超出表达范围时，受限 Python 完成计算并接受输出检查。</a:t>
            </a:r>
          </a:p>
          <a:p>
            <a:r>
              <a:t>右侧是 finance 输出字段示例，不是本页虚构的计算结果。CodeAct 合同校验发生在执行产出之后。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11 页：StateBus 对齐公共前缀，vLLM 决定实际命中</a:t>
            </a:r>
          </a:p>
          <a:p>
            <a:r>
              <a:t>依据：apc_state.md（调度示意）· model-assist/summary.md</a:t>
            </a:r>
          </a:p>
          <a:p>
            <a:r>
              <a:t>相同资料要变成相同 token 前缀；命中反馈用于调整尚未执行的 ready task。</a:t>
            </a:r>
          </a:p>
          <a:p>
            <a:r>
              <a:t>队列为文档中的调度原则示意，不是专项 trace。APC 专项证明 shared vs independent 布局的局部效果，不能单独归因于队列重排。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12 页：同一份资料按角色裁剪，来源始终保留</a:t>
            </a:r>
          </a:p>
          <a:p>
            <a:r>
              <a:t>依据：challenge_projection.md · F02 rows.json / input-lineage.json</a:t>
            </a:r>
          </a:p>
          <a:p>
            <a:r>
              <a:t>角色视图示意 + F02 实测样例：原始输入、计算结果和引用分别展示。</a:t>
            </a:r>
          </a:p>
          <a:p>
            <a:r>
              <a:t>角色视图为机制示意。数值来自 Memory 专项 F02 on 的当前 CSV 与 rows.json，脚本核对 U-A 全部输入行的收入、成本与输出一致。第1条输入不能单独推出汇总。来源标注是文件路径与首条数据位置的阅读说明，不冒充运行记录中的逐行 locator 字符串。输入绑定见 input-lineage.json；Summarizer 结果由执行产物补入，不来自原始 EvidencePack。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13 页：计划变化时，保留已完成结果，只调整后续步骤</a:t>
            </a:r>
          </a:p>
          <a:p>
            <a:r>
              <a:t>依据：challenge_runtime_continuation.md（过程示意）</a:t>
            </a:r>
          </a:p>
          <a:p>
            <a:r>
              <a:t>Planner 提方案；Runtime 绑定真实能力、输入输出要求和依赖，再批准执行。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14 页：历史方法是否可用，要和本轮条件逐项比较</a:t>
            </a:r>
          </a:p>
          <a:p>
            <a:r>
              <a:t>依据：challenge_memory_reuse.md · mechanisms/results.json（F02）</a:t>
            </a:r>
          </a:p>
          <a:p>
            <a:r>
              <a:t>输入内容可以变化；方法要求的字段、版本兼容性和输出合同必须成立。</a:t>
            </a:r>
          </a:p>
          <a:p>
            <a:r>
              <a:t>F02 候选兼容性为 degraded，原因 input_lineage_changed；不是旧输入与当前输入完全一致。独立 replay eligibility receipt 为 ELIGIBLE，允许在当前输入重算方法。表为原始事件的中文摘要；右侧显示策略的三种互斥去向。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15 页：两类连续任务，按相同输入和质量门配对比较</a:t>
            </a:r>
          </a:p>
          <a:p>
            <a:r>
              <a:t>依据：experiments_overview.md · mainline/tasks.csv</a:t>
            </a:r>
          </a:p>
          <a:p>
            <a:r>
              <a:t>finance 与 service_ops 各 12 轮；24 对任务，两种配置共 48 次执行。</a:t>
            </a:r>
          </a:p>
          <a:p>
            <a:r>
              <a:t>两类任务为合成且有明确业务计算口径的连续任务。这里只展开前3轮关系；其余轮次包括版本变化、预算/计划连接、历史汇总与跨角色审计。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16 页：同样通过 24 项质量门，整体开销下降</a:t>
            </a:r>
          </a:p>
          <a:p>
            <a:r>
              <a:t>依据：mainline/tasks.csv · results.md</a:t>
            </a:r>
          </a:p>
          <a:p>
            <a:r>
              <a:t>四项指标分别比较；24 个任务耗时为逐任务 E2E 总和。</a:t>
            </a:r>
          </a:p>
          <a:p>
            <a:r>
              <a:t>每行以该指标的 P-TEXT 值为基准绘制，不跨行比较条长。总耗时是逐任务 E2E 相加，不是批次并发 wall clock。整套机制的整体比较不构成单机制归因。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17 页：主线事件与专项记录，分别证明机制发生过</a:t>
            </a:r>
          </a:p>
          <a:p>
            <a:r>
              <a:t>依据：mainline/results.json · mechanisms/results.json · experiments_overview.md</a:t>
            </a:r>
          </a:p>
          <a:p>
            <a:r>
              <a:t>主线 24 对、Memory 专项 8 对、执行 showcase 5 例：三个分母不合并。</a:t>
            </a:r>
          </a:p>
          <a:p>
            <a:r>
              <a:t>主线 Memory 有12次 validated replay，与12次实际消费分开记录。Showcase 2/3 DSL 不可改写成100%成功。主线State全部no_effect，生命周期发生本身不能证明选择收益。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18 页：四组专项：机制被使用，局部收益各有边界</a:t>
            </a:r>
          </a:p>
          <a:p>
            <a:r>
              <a:t>依据：results.md · model-assist/summary.md · mechanisms/results.json</a:t>
            </a:r>
          </a:p>
          <a:p>
            <a:r>
              <a:t>每组独立任务、开关和分母；下列局部指标不与主线总耗时合并。</a:t>
            </a:r>
          </a:p>
          <a:p>
            <a:r>
              <a:t>APC 两组都开启APC，对比独立与共享前缀布局。KV computed prefill和APC TTFT是consumer均值；完整task wall平均降幅为3.58%/4.29%。Logit输入降幅仅3个resolved case，不覆盖unresolved case。State下游行为改变1/4，另外3个no_effect。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6200"/>
          </a:xfrm>
          <a:prstGeom prst="rect">
            <a:avLst/>
          </a:prstGeom>
          <a:solidFill>
            <a:srgbClr val="24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800" y="304800"/>
            <a:ext cx="11430000" cy="2524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456D6"/>
                </a:solidFill>
                <a:latin typeface="Noto Sans CJK SC"/>
              </a:rPr>
              <a:t>项目介绍  /  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800" y="685800"/>
            <a:ext cx="13512800" cy="54101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4259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24D"/>
                </a:solidFill>
                <a:latin typeface="Noto Sans CJK SC"/>
              </a:rPr>
              <a:t>角色分开以后，前一步的工作怎样接着用？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800" y="1295400"/>
            <a:ext cx="135128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1748C"/>
                </a:solidFill>
                <a:latin typeface="Noto Sans CJK SC"/>
              </a:rPr>
              <a:t>问题不在角色数量，而在资料、中间状态和处理方法能否接续。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58800" y="1778000"/>
            <a:ext cx="13512800" cy="0"/>
          </a:xfrm>
          <a:prstGeom prst="line">
            <a:avLst/>
          </a:prstGeom>
          <a:ln w="12700">
            <a:solidFill>
              <a:srgbClr val="D5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58800" y="7797800"/>
            <a:ext cx="3175000" cy="1803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48C"/>
                </a:solidFill>
                <a:latin typeface="Noto Sans CJK SC"/>
              </a:rPr>
              <a:t>STATEBUS  /  答辩内容页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0" y="7797800"/>
            <a:ext cx="8890000" cy="1803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48C"/>
                </a:solidFill>
                <a:latin typeface="Noto Sans CJK SC"/>
              </a:rPr>
              <a:t>introduction.md · DESIGN.md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87400" y="7772400"/>
            <a:ext cx="584200" cy="19837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48C"/>
                </a:solidFill>
                <a:latin typeface="Noto Sans CJK SC"/>
              </a:rPr>
              <a:t>01/18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800" y="2209800"/>
            <a:ext cx="8890000" cy="46888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692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7324D"/>
                </a:solidFill>
                <a:latin typeface="Noto Sans CJK SC"/>
              </a:rPr>
              <a:t>一次交接，三处可能重做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607800" y="2184400"/>
            <a:ext cx="2463800" cy="381000"/>
          </a:xfrm>
          <a:prstGeom prst="roundRect">
            <a:avLst>
              <a:gd name="adj" fmla="val 10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9400" y="2235200"/>
            <a:ext cx="2260600" cy="2524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1748C"/>
                </a:solidFill>
                <a:latin typeface="Noto Sans CJK SC"/>
              </a:rPr>
              <a:t>通用协作场景示意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79500" y="4000500"/>
            <a:ext cx="12331700" cy="0"/>
          </a:xfrm>
          <a:prstGeom prst="line">
            <a:avLst/>
          </a:prstGeom>
          <a:ln w="25400">
            <a:solidFill>
              <a:srgbClr val="D5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63600" y="3251200"/>
            <a:ext cx="660400" cy="660400"/>
          </a:xfrm>
          <a:prstGeom prst="roundRect">
            <a:avLst>
              <a:gd name="adj" fmla="val 12000"/>
            </a:avLst>
          </a:prstGeom>
          <a:solidFill>
            <a:srgbClr val="24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3600" y="3352800"/>
            <a:ext cx="660400" cy="3967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312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Noto Sans CJK SC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27200" y="3327400"/>
            <a:ext cx="3048000" cy="43281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408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7324D"/>
                </a:solidFill>
                <a:latin typeface="Noto Sans CJK SC"/>
              </a:rPr>
              <a:t>交接时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61000" y="3251200"/>
            <a:ext cx="660400" cy="660400"/>
          </a:xfrm>
          <a:prstGeom prst="roundRect">
            <a:avLst>
              <a:gd name="adj" fmla="val 12000"/>
            </a:avLst>
          </a:prstGeom>
          <a:solidFill>
            <a:srgbClr val="24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61000" y="3352800"/>
            <a:ext cx="660400" cy="3967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312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Noto Sans CJK SC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600" y="3327400"/>
            <a:ext cx="3048000" cy="43281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408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7324D"/>
                </a:solidFill>
                <a:latin typeface="Noto Sans CJK SC"/>
              </a:rPr>
              <a:t>处理中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33000" y="3251200"/>
            <a:ext cx="660400" cy="660400"/>
          </a:xfrm>
          <a:prstGeom prst="roundRect">
            <a:avLst>
              <a:gd name="adj" fmla="val 12000"/>
            </a:avLst>
          </a:prstGeom>
          <a:solidFill>
            <a:srgbClr val="24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33000" y="3352800"/>
            <a:ext cx="660400" cy="3967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312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Noto Sans CJK SC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96600" y="3327400"/>
            <a:ext cx="3048000" cy="43281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408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7324D"/>
                </a:solidFill>
                <a:latin typeface="Noto Sans CJK SC"/>
              </a:rPr>
              <a:t>下一次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600" y="4203700"/>
            <a:ext cx="3886200" cy="43281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408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456D6"/>
                </a:solidFill>
                <a:latin typeface="Noto Sans CJK SC"/>
              </a:rPr>
              <a:t>资料写进长消息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600" y="4826000"/>
            <a:ext cx="3886200" cy="68529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697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24D"/>
                </a:solidFill>
                <a:latin typeface="Noto Sans CJK SC"/>
              </a:rPr>
              <a:t>下游再找一次所需数据行</a:t>
            </a:r>
          </a:p>
          <a:p>
            <a:pPr algn="l">
              <a:lnSpc>
                <a:spcPts val="2697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24D"/>
                </a:solidFill>
                <a:latin typeface="Noto Sans CJK SC"/>
              </a:rPr>
              <a:t>来源位置还要重新核对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61000" y="4203700"/>
            <a:ext cx="3886200" cy="43281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408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456D6"/>
                </a:solidFill>
                <a:latin typeface="Noto Sans CJK SC"/>
              </a:rPr>
              <a:t>选择结果只剩文字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61000" y="4826000"/>
            <a:ext cx="3886200" cy="68529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697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24D"/>
                </a:solidFill>
                <a:latin typeface="Noto Sans CJK SC"/>
              </a:rPr>
              <a:t>“选中了第 3 行”</a:t>
            </a:r>
          </a:p>
          <a:p>
            <a:pPr algn="l">
              <a:lnSpc>
                <a:spcPts val="2697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24D"/>
                </a:solidFill>
                <a:latin typeface="Noto Sans CJK SC"/>
              </a:rPr>
              <a:t>却没有带回原文位置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33000" y="4203700"/>
            <a:ext cx="3886200" cy="43281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408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456D6"/>
                </a:solidFill>
                <a:latin typeface="Noto Sans CJK SC"/>
              </a:rPr>
              <a:t>换一批输入又重来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33000" y="4826000"/>
            <a:ext cx="3886200" cy="68529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697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24D"/>
                </a:solidFill>
                <a:latin typeface="Noto Sans CJK SC"/>
              </a:rPr>
              <a:t>相同的汇总方法</a:t>
            </a:r>
          </a:p>
          <a:p>
            <a:pPr algn="l">
              <a:lnSpc>
                <a:spcPts val="2697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24D"/>
                </a:solidFill>
                <a:latin typeface="Noto Sans CJK SC"/>
              </a:rPr>
              <a:t>下一轮重新生成一次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8800" y="7073900"/>
            <a:ext cx="13512800" cy="533400"/>
          </a:xfrm>
          <a:prstGeom prst="rect">
            <a:avLst/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8800" y="7073900"/>
            <a:ext cx="50800" cy="533400"/>
          </a:xfrm>
          <a:prstGeom prst="rect">
            <a:avLst/>
          </a:prstGeom>
          <a:solidFill>
            <a:srgbClr val="24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2000" y="7162800"/>
            <a:ext cx="130810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324D"/>
                </a:solidFill>
                <a:latin typeface="Noto Sans CJK SC"/>
              </a:rPr>
              <a:t>对应赛题：交接要有结构，状态要能消费，方法要能跨任务复用。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6200"/>
          </a:xfrm>
          <a:prstGeom prst="rect">
            <a:avLst/>
          </a:prstGeom>
          <a:solidFill>
            <a:srgbClr val="24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800" y="304800"/>
            <a:ext cx="11430000" cy="2524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456D6"/>
                </a:solidFill>
                <a:latin typeface="Noto Sans CJK SC"/>
              </a:rPr>
              <a:t>项目介绍  /  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800" y="685800"/>
            <a:ext cx="13512800" cy="54101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4259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24D"/>
                </a:solidFill>
                <a:latin typeface="Noto Sans CJK SC"/>
              </a:rPr>
              <a:t>StateBus 把交接变成“步骤 + 对象 + 方法”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800" y="1295400"/>
            <a:ext cx="135128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1748C"/>
                </a:solidFill>
                <a:latin typeface="Noto Sans CJK SC"/>
              </a:rPr>
              <a:t>Runtime 安排执行；协议说清请求；Ref 定位资料和结果；Memory 留下可复用方法。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58800" y="1778000"/>
            <a:ext cx="13512800" cy="0"/>
          </a:xfrm>
          <a:prstGeom prst="line">
            <a:avLst/>
          </a:prstGeom>
          <a:ln w="12700">
            <a:solidFill>
              <a:srgbClr val="D5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58800" y="7797800"/>
            <a:ext cx="3175000" cy="1803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48C"/>
                </a:solidFill>
                <a:latin typeface="Noto Sans CJK SC"/>
              </a:rPr>
              <a:t>STATEBUS  /  答辩内容页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0" y="7797800"/>
            <a:ext cx="8890000" cy="1803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48C"/>
                </a:solidFill>
                <a:latin typeface="Noto Sans CJK SC"/>
              </a:rPr>
              <a:t>introduction.md · experiments_overview.md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87400" y="7772400"/>
            <a:ext cx="584200" cy="19837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48C"/>
                </a:solidFill>
                <a:latin typeface="Noto Sans CJK SC"/>
              </a:rPr>
              <a:t>02/18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8800" y="2159000"/>
            <a:ext cx="2286000" cy="381000"/>
          </a:xfrm>
          <a:prstGeom prst="roundRect">
            <a:avLst>
              <a:gd name="adj" fmla="val 10000"/>
            </a:avLst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400" y="2209800"/>
            <a:ext cx="2082800" cy="2524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456D6"/>
                </a:solidFill>
                <a:latin typeface="Noto Sans CJK SC"/>
              </a:rPr>
              <a:t>贯穿例：月度核算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800" y="2768600"/>
            <a:ext cx="3302000" cy="901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55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7324D"/>
                </a:solidFill>
                <a:latin typeface="Noto Sans CJK SC"/>
              </a:rPr>
              <a:t>2 月各业务单元</a:t>
            </a:r>
          </a:p>
          <a:p>
            <a:pPr algn="l">
              <a:lnSpc>
                <a:spcPts val="355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7324D"/>
                </a:solidFill>
                <a:latin typeface="Noto Sans CJK SC"/>
              </a:rPr>
              <a:t>收入、成本、利润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800" y="3835400"/>
            <a:ext cx="3302000" cy="64922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1748C"/>
                </a:solidFill>
                <a:latin typeface="Noto Sans CJK SC"/>
              </a:rPr>
              <a:t>输入：本月 CSV</a:t>
            </a:r>
          </a:p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1748C"/>
                </a:solidFill>
                <a:latin typeface="Noto Sans CJK SC"/>
              </a:rPr>
              <a:t>输出：结构化结果 + 引用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848100" y="3441700"/>
            <a:ext cx="533400" cy="0"/>
          </a:xfrm>
          <a:prstGeom prst="line">
            <a:avLst/>
          </a:prstGeom>
          <a:ln w="22860">
            <a:solidFill>
              <a:srgbClr val="2456D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508500" y="2501900"/>
            <a:ext cx="4826000" cy="2209800"/>
          </a:xfrm>
          <a:prstGeom prst="roundRect">
            <a:avLst>
              <a:gd name="adj" fmla="val 2873"/>
            </a:avLst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08500" y="2501900"/>
            <a:ext cx="38100" cy="2209800"/>
          </a:xfrm>
          <a:prstGeom prst="rect">
            <a:avLst/>
          </a:prstGeom>
          <a:solidFill>
            <a:srgbClr val="24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86300" y="2654300"/>
            <a:ext cx="4470400" cy="4508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55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456D6"/>
                </a:solidFill>
                <a:latin typeface="Noto Sans CJK SC"/>
              </a:rPr>
              <a:t>Runtime 安排步骤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6300" y="3181350"/>
            <a:ext cx="4470400" cy="64922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</a:rPr>
              <a:t>准备资料 → 计算 → 检查 → 汇总</a:t>
            </a:r>
          </a:p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</a:rPr>
              <a:t>Planner 提方案，Runtime 批准执行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334500" y="3441700"/>
            <a:ext cx="533400" cy="0"/>
          </a:xfrm>
          <a:prstGeom prst="line">
            <a:avLst/>
          </a:prstGeom>
          <a:ln w="22860">
            <a:solidFill>
              <a:srgbClr val="2456D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045700" y="2679700"/>
            <a:ext cx="4025900" cy="1701800"/>
          </a:xfrm>
          <a:prstGeom prst="roundRect">
            <a:avLst>
              <a:gd name="adj" fmla="val 3731"/>
            </a:avLst>
          </a:prstGeom>
          <a:solidFill>
            <a:srgbClr val="E9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045700" y="2679700"/>
            <a:ext cx="38100" cy="1701800"/>
          </a:xfrm>
          <a:prstGeom prst="rect">
            <a:avLst/>
          </a:prstGeom>
          <a:solidFill>
            <a:srgbClr val="138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23500" y="2832100"/>
            <a:ext cx="3670300" cy="41478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265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38E84"/>
                </a:solidFill>
                <a:latin typeface="Noto Sans CJK SC"/>
              </a:rPr>
              <a:t>结果交给下一步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23500" y="3323081"/>
            <a:ext cx="3670300" cy="64922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</a:rPr>
              <a:t>Artifact + 来源定位</a:t>
            </a:r>
          </a:p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</a:rPr>
              <a:t>Summarizer 形成结论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58800" y="5473700"/>
            <a:ext cx="4089400" cy="0"/>
          </a:xfrm>
          <a:prstGeom prst="line">
            <a:avLst/>
          </a:prstGeom>
          <a:ln w="38100">
            <a:solidFill>
              <a:srgbClr val="245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58800" y="5689600"/>
            <a:ext cx="4089400" cy="3967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12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456D6"/>
                </a:solidFill>
                <a:latin typeface="Noto Sans CJK SC"/>
              </a:rPr>
              <a:t>协议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8800" y="6197600"/>
            <a:ext cx="40894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</a:rPr>
              <a:t>这次做什么、读什么、交什么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257800" y="5473700"/>
            <a:ext cx="4089400" cy="0"/>
          </a:xfrm>
          <a:prstGeom prst="line">
            <a:avLst/>
          </a:prstGeom>
          <a:ln w="38100">
            <a:solidFill>
              <a:srgbClr val="138E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257800" y="5689600"/>
            <a:ext cx="4089400" cy="3967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12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38E84"/>
                </a:solidFill>
                <a:latin typeface="Noto Sans CJK SC"/>
              </a:rPr>
              <a:t>引用对象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800" y="6197600"/>
            <a:ext cx="40894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</a:rPr>
              <a:t>资料和计算结果都有明确位置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956800" y="5473700"/>
            <a:ext cx="4089400" cy="0"/>
          </a:xfrm>
          <a:prstGeom prst="line">
            <a:avLst/>
          </a:prstGeom>
          <a:ln w="38100">
            <a:solidFill>
              <a:srgbClr val="663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956800" y="5689600"/>
            <a:ext cx="4089400" cy="3967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12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6638F0"/>
                </a:solidFill>
                <a:latin typeface="Noto Sans CJK SC"/>
              </a:rPr>
              <a:t>Memory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56800" y="6197600"/>
            <a:ext cx="40894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</a:rPr>
              <a:t>上月方法可用于本月重新计算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8800" y="7073900"/>
            <a:ext cx="13512800" cy="533400"/>
          </a:xfrm>
          <a:prstGeom prst="rect">
            <a:avLst/>
          </a:prstGeom>
          <a:solidFill>
            <a:srgbClr val="F1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8800" y="7073900"/>
            <a:ext cx="50800" cy="533400"/>
          </a:xfrm>
          <a:prstGeom prst="rect">
            <a:avLst/>
          </a:prstGeom>
          <a:solidFill>
            <a:srgbClr val="663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2000" y="7162800"/>
            <a:ext cx="130810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324D"/>
                </a:solidFill>
                <a:latin typeface="Noto Sans CJK SC"/>
              </a:rPr>
              <a:t>F01 汇总 1 月，F02 汇总 2 月：可以复用方法，仍需读取并计算 2 月数据。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6200"/>
          </a:xfrm>
          <a:prstGeom prst="rect">
            <a:avLst/>
          </a:prstGeom>
          <a:solidFill>
            <a:srgbClr val="24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800" y="304800"/>
            <a:ext cx="11430000" cy="2524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456D6"/>
                </a:solidFill>
                <a:latin typeface="Noto Sans CJK SC"/>
              </a:rPr>
              <a:t>项目介绍  /  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800" y="685800"/>
            <a:ext cx="13512800" cy="54101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4259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24D"/>
                </a:solidFill>
                <a:latin typeface="Noto Sans CJK SC"/>
              </a:rPr>
              <a:t>一次任务从输入到结论，由 Runtime 推进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800" y="1295400"/>
            <a:ext cx="135128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1748C"/>
                </a:solidFill>
                <a:latin typeface="Noto Sans CJK SC"/>
              </a:rPr>
              <a:t>横向读任务主线；对象、模型服务与历史记忆在各自位置接入。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58800" y="1778000"/>
            <a:ext cx="13512800" cy="0"/>
          </a:xfrm>
          <a:prstGeom prst="line">
            <a:avLst/>
          </a:prstGeom>
          <a:ln w="12700">
            <a:solidFill>
              <a:srgbClr val="D5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58800" y="7797800"/>
            <a:ext cx="3175000" cy="1803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48C"/>
                </a:solidFill>
                <a:latin typeface="Noto Sans CJK SC"/>
              </a:rPr>
              <a:t>STATEBUS  /  答辩内容页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0" y="7797800"/>
            <a:ext cx="8890000" cy="1803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48C"/>
                </a:solidFill>
                <a:latin typeface="Noto Sans CJK SC"/>
              </a:rPr>
              <a:t>architecture_page.md · memory_reuse.md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87400" y="7772400"/>
            <a:ext cx="584200" cy="19837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48C"/>
                </a:solidFill>
                <a:latin typeface="Noto Sans CJK SC"/>
              </a:rPr>
              <a:t>03/18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8800" y="2133600"/>
            <a:ext cx="10109200" cy="889000"/>
          </a:xfrm>
          <a:prstGeom prst="roundRect">
            <a:avLst>
              <a:gd name="adj" fmla="val 7142"/>
            </a:avLst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2247900"/>
            <a:ext cx="9652000" cy="37871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98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456D6"/>
                </a:solidFill>
                <a:latin typeface="Noto Sans CJK SC"/>
              </a:rPr>
              <a:t>控制层  /  StateBus Runtime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2641600"/>
            <a:ext cx="9652000" cy="2885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24D"/>
                </a:solidFill>
                <a:latin typeface="Noto Sans CJK SC"/>
              </a:rPr>
              <a:t>任务编译  ·  能力登记  ·  计划批准  ·  调度与投影  ·  结果检查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8800" y="3619500"/>
            <a:ext cx="1651000" cy="1168400"/>
          </a:xfrm>
          <a:prstGeom prst="roundRect">
            <a:avLst>
              <a:gd name="adj" fmla="val 5434"/>
            </a:avLst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8800" y="3619500"/>
            <a:ext cx="38100" cy="1168400"/>
          </a:xfrm>
          <a:prstGeom prst="rect">
            <a:avLst/>
          </a:prstGeom>
          <a:solidFill>
            <a:srgbClr val="24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3100" y="3771900"/>
            <a:ext cx="14224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456D6"/>
                </a:solidFill>
                <a:latin typeface="Noto Sans CJK SC"/>
              </a:rPr>
              <a:t>任务输入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100" y="4178300"/>
            <a:ext cx="1422400" cy="2524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324D"/>
                </a:solidFill>
                <a:latin typeface="Noto Sans CJK SC"/>
              </a:rPr>
              <a:t>目标 + 文件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38400" y="3619500"/>
            <a:ext cx="1651000" cy="1168400"/>
          </a:xfrm>
          <a:prstGeom prst="roundRect">
            <a:avLst>
              <a:gd name="adj" fmla="val 5434"/>
            </a:avLst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38400" y="3619500"/>
            <a:ext cx="38100" cy="1168400"/>
          </a:xfrm>
          <a:prstGeom prst="rect">
            <a:avLst/>
          </a:prstGeom>
          <a:solidFill>
            <a:srgbClr val="24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52700" y="3771900"/>
            <a:ext cx="14224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456D6"/>
                </a:solidFill>
                <a:latin typeface="Noto Sans CJK SC"/>
              </a:rPr>
              <a:t>Planner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52700" y="4178300"/>
            <a:ext cx="1422400" cy="2524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324D"/>
                </a:solidFill>
                <a:latin typeface="Noto Sans CJK SC"/>
              </a:rPr>
              <a:t>提出计划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18000" y="3619500"/>
            <a:ext cx="1651000" cy="1168400"/>
          </a:xfrm>
          <a:prstGeom prst="roundRect">
            <a:avLst>
              <a:gd name="adj" fmla="val 5434"/>
            </a:avLst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18000" y="3619500"/>
            <a:ext cx="38100" cy="1168400"/>
          </a:xfrm>
          <a:prstGeom prst="rect">
            <a:avLst/>
          </a:prstGeom>
          <a:solidFill>
            <a:srgbClr val="24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2300" y="3771900"/>
            <a:ext cx="14224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456D6"/>
                </a:solidFill>
                <a:latin typeface="Noto Sans CJK SC"/>
              </a:rPr>
              <a:t>Retriever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2300" y="4178300"/>
            <a:ext cx="1422400" cy="2524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324D"/>
                </a:solidFill>
                <a:latin typeface="Noto Sans CJK SC"/>
              </a:rPr>
              <a:t>准备证据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7600" y="3619500"/>
            <a:ext cx="1651000" cy="1168400"/>
          </a:xfrm>
          <a:prstGeom prst="roundRect">
            <a:avLst>
              <a:gd name="adj" fmla="val 5434"/>
            </a:avLst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97600" y="3619500"/>
            <a:ext cx="38100" cy="1168400"/>
          </a:xfrm>
          <a:prstGeom prst="rect">
            <a:avLst/>
          </a:prstGeom>
          <a:solidFill>
            <a:srgbClr val="24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11900" y="3771900"/>
            <a:ext cx="14224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456D6"/>
                </a:solidFill>
                <a:latin typeface="Noto Sans CJK SC"/>
              </a:rPr>
              <a:t>Executor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1900" y="4178300"/>
            <a:ext cx="1422400" cy="2524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324D"/>
                </a:solidFill>
                <a:latin typeface="Noto Sans CJK SC"/>
              </a:rPr>
              <a:t>DSL / CodeAct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77200" y="3619500"/>
            <a:ext cx="1651000" cy="1168400"/>
          </a:xfrm>
          <a:prstGeom prst="roundRect">
            <a:avLst>
              <a:gd name="adj" fmla="val 5434"/>
            </a:avLst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77200" y="3619500"/>
            <a:ext cx="38100" cy="1168400"/>
          </a:xfrm>
          <a:prstGeom prst="rect">
            <a:avLst/>
          </a:prstGeom>
          <a:solidFill>
            <a:srgbClr val="24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91500" y="3771900"/>
            <a:ext cx="14224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456D6"/>
                </a:solidFill>
                <a:latin typeface="Noto Sans CJK SC"/>
              </a:rPr>
              <a:t>Summarizer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91500" y="4178300"/>
            <a:ext cx="1422400" cy="2524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324D"/>
                </a:solidFill>
                <a:latin typeface="Noto Sans CJK SC"/>
              </a:rPr>
              <a:t>组织结论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209800" y="4203700"/>
            <a:ext cx="177800" cy="0"/>
          </a:xfrm>
          <a:prstGeom prst="line">
            <a:avLst/>
          </a:prstGeom>
          <a:ln w="22860">
            <a:solidFill>
              <a:srgbClr val="2456D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089400" y="4203700"/>
            <a:ext cx="177800" cy="0"/>
          </a:xfrm>
          <a:prstGeom prst="line">
            <a:avLst/>
          </a:prstGeom>
          <a:ln w="22860">
            <a:solidFill>
              <a:srgbClr val="2456D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969000" y="4203700"/>
            <a:ext cx="177800" cy="0"/>
          </a:xfrm>
          <a:prstGeom prst="line">
            <a:avLst/>
          </a:prstGeom>
          <a:ln w="22860">
            <a:solidFill>
              <a:srgbClr val="2456D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848600" y="4203700"/>
            <a:ext cx="177800" cy="0"/>
          </a:xfrm>
          <a:prstGeom prst="line">
            <a:avLst/>
          </a:prstGeom>
          <a:ln w="22860">
            <a:solidFill>
              <a:srgbClr val="2456D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728200" y="4203700"/>
            <a:ext cx="558800" cy="0"/>
          </a:xfrm>
          <a:prstGeom prst="line">
            <a:avLst/>
          </a:prstGeom>
          <a:ln w="22860">
            <a:solidFill>
              <a:srgbClr val="245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0287000" y="4203700"/>
            <a:ext cx="0" cy="1117600"/>
          </a:xfrm>
          <a:prstGeom prst="line">
            <a:avLst/>
          </a:prstGeom>
          <a:ln w="22860">
            <a:solidFill>
              <a:srgbClr val="2456D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874000" y="5321300"/>
            <a:ext cx="2794000" cy="381000"/>
          </a:xfrm>
          <a:prstGeom prst="roundRect">
            <a:avLst>
              <a:gd name="adj" fmla="val 10000"/>
            </a:avLst>
          </a:prstGeom>
          <a:solidFill>
            <a:srgbClr val="E9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75600" y="5372100"/>
            <a:ext cx="2590800" cy="2524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38E84"/>
                </a:solidFill>
                <a:latin typeface="Noto Sans CJK SC"/>
              </a:rPr>
              <a:t>输出：结论 + Artifact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626100" y="3022600"/>
            <a:ext cx="0" cy="406400"/>
          </a:xfrm>
          <a:prstGeom prst="line">
            <a:avLst/>
          </a:prstGeom>
          <a:ln w="22860">
            <a:solidFill>
              <a:srgbClr val="2456D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36600" y="3162300"/>
            <a:ext cx="6667500" cy="2524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1748C"/>
                </a:solidFill>
                <a:latin typeface="Noto Sans CJK SC"/>
              </a:rPr>
              <a:t>请求：动作 / 参数 / Ref / 输出合同；返回：状态 / 结果 Ref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58800" y="5156200"/>
            <a:ext cx="6477000" cy="1320800"/>
          </a:xfrm>
          <a:prstGeom prst="roundRect">
            <a:avLst>
              <a:gd name="adj" fmla="val 4807"/>
            </a:avLst>
          </a:prstGeom>
          <a:solidFill>
            <a:srgbClr val="E9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58800" y="5156200"/>
            <a:ext cx="38100" cy="1320800"/>
          </a:xfrm>
          <a:prstGeom prst="rect">
            <a:avLst/>
          </a:prstGeom>
          <a:solidFill>
            <a:srgbClr val="138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6600" y="5308600"/>
            <a:ext cx="6121400" cy="3606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84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38E84"/>
                </a:solidFill>
                <a:latin typeface="Noto Sans CJK SC"/>
              </a:rPr>
              <a:t>对象层：保存资料、状态和结果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6600" y="5745480"/>
            <a:ext cx="6121400" cy="5770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24D"/>
                </a:solidFill>
                <a:latin typeface="Noto Sans CJK SC"/>
              </a:rPr>
              <a:t>EvidencePack  ·  StateRef  ·  ArtifactRef</a:t>
            </a:r>
          </a:p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24D"/>
                </a:solidFill>
                <a:latin typeface="Noto Sans CJK SC"/>
              </a:rPr>
              <a:t>shared memory / mmap / CAS / workspace</a:t>
            </a:r>
          </a:p>
        </p:txBody>
      </p:sp>
      <p:cxnSp>
        <p:nvCxnSpPr>
          <p:cNvPr id="47" name="Connector 46"/>
          <p:cNvCxnSpPr/>
          <p:nvPr/>
        </p:nvCxnSpPr>
        <p:spPr>
          <a:xfrm flipV="1">
            <a:off x="7023100" y="4787900"/>
            <a:ext cx="0" cy="368300"/>
          </a:xfrm>
          <a:prstGeom prst="line">
            <a:avLst/>
          </a:prstGeom>
          <a:ln w="22860">
            <a:solidFill>
              <a:srgbClr val="138E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645400" y="4851400"/>
            <a:ext cx="3022600" cy="2524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38E84"/>
                </a:solidFill>
                <a:latin typeface="Noto Sans CJK SC"/>
              </a:rPr>
              <a:t>Ref → 本步角色输入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58800" y="6629400"/>
            <a:ext cx="10109200" cy="736600"/>
          </a:xfrm>
          <a:prstGeom prst="roundRect">
            <a:avLst>
              <a:gd name="adj" fmla="val 6896"/>
            </a:avLst>
          </a:prstGeom>
          <a:solidFill>
            <a:srgbClr val="F9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62000" y="6731000"/>
            <a:ext cx="97028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87717"/>
                </a:solidFill>
                <a:latin typeface="Noto Sans CJK SC"/>
              </a:rPr>
              <a:t>模型层：Embedding 编码器 / 请求适配 / vLLM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2000" y="7035800"/>
            <a:ext cx="9702800" cy="2524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324D"/>
                </a:solidFill>
                <a:latin typeface="Noto Sans CJK SC"/>
              </a:rPr>
              <a:t>显式 KV：Worker 内 capture/load；APC：引擎缓存，按模式选择</a:t>
            </a:r>
          </a:p>
        </p:txBody>
      </p:sp>
      <p:cxnSp>
        <p:nvCxnSpPr>
          <p:cNvPr id="52" name="Connector 51"/>
          <p:cNvCxnSpPr/>
          <p:nvPr/>
        </p:nvCxnSpPr>
        <p:spPr>
          <a:xfrm flipV="1">
            <a:off x="7493000" y="5067300"/>
            <a:ext cx="0" cy="1562100"/>
          </a:xfrm>
          <a:prstGeom prst="line">
            <a:avLst/>
          </a:prstGeom>
          <a:ln w="22860">
            <a:solidFill>
              <a:srgbClr val="B87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7429500" y="5067300"/>
            <a:ext cx="63500" cy="0"/>
          </a:xfrm>
          <a:prstGeom prst="line">
            <a:avLst/>
          </a:prstGeom>
          <a:ln w="22860">
            <a:solidFill>
              <a:srgbClr val="B87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7429500" y="4787900"/>
            <a:ext cx="0" cy="279400"/>
          </a:xfrm>
          <a:prstGeom prst="line">
            <a:avLst/>
          </a:prstGeom>
          <a:ln w="22860">
            <a:solidFill>
              <a:srgbClr val="B8771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11188700" y="2133600"/>
            <a:ext cx="2882900" cy="5232400"/>
          </a:xfrm>
          <a:prstGeom prst="roundRect">
            <a:avLst>
              <a:gd name="adj" fmla="val 2202"/>
            </a:avLst>
          </a:prstGeom>
          <a:solidFill>
            <a:srgbClr val="F1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188700" y="2133600"/>
            <a:ext cx="38100" cy="5232400"/>
          </a:xfrm>
          <a:prstGeom prst="rect">
            <a:avLst/>
          </a:prstGeom>
          <a:solidFill>
            <a:srgbClr val="663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366500" y="2286000"/>
            <a:ext cx="2527300" cy="3967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12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6638F0"/>
                </a:solidFill>
                <a:latin typeface="Noto Sans CJK SC"/>
              </a:rPr>
              <a:t>历史 / Memory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366500" y="2758948"/>
            <a:ext cx="2527300" cy="16230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</a:rPr>
              <a:t>保存结果与 recipe</a:t>
            </a:r>
          </a:p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</a:rPr>
              <a:t>按查询检索候选</a:t>
            </a:r>
          </a:p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</a:rPr>
              <a:t>检查本轮是否适用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417300" y="5727700"/>
            <a:ext cx="2438400" cy="64922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6638F0"/>
                </a:solidFill>
                <a:latin typeface="Noto Sans CJK SC"/>
              </a:rPr>
              <a:t>下一次任务</a:t>
            </a:r>
          </a:p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6638F0"/>
                </a:solidFill>
                <a:latin typeface="Noto Sans CJK SC"/>
              </a:rPr>
              <a:t>取回参考或处理方法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10668000" y="5511800"/>
            <a:ext cx="520700" cy="0"/>
          </a:xfrm>
          <a:prstGeom prst="line">
            <a:avLst/>
          </a:prstGeom>
          <a:ln w="22860">
            <a:solidFill>
              <a:srgbClr val="6638F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8343900" y="5867400"/>
            <a:ext cx="2413000" cy="2524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638F0"/>
                </a:solidFill>
                <a:latin typeface="Noto Sans CJK SC"/>
              </a:rPr>
              <a:t>验证后保存至 Memory</a:t>
            </a:r>
          </a:p>
        </p:txBody>
      </p:sp>
      <p:cxnSp>
        <p:nvCxnSpPr>
          <p:cNvPr id="62" name="Connector 61"/>
          <p:cNvCxnSpPr/>
          <p:nvPr/>
        </p:nvCxnSpPr>
        <p:spPr>
          <a:xfrm flipH="1">
            <a:off x="9994900" y="3403600"/>
            <a:ext cx="1193800" cy="0"/>
          </a:xfrm>
          <a:prstGeom prst="line">
            <a:avLst/>
          </a:prstGeom>
          <a:ln w="22860">
            <a:solidFill>
              <a:srgbClr val="663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9994900" y="3022600"/>
            <a:ext cx="0" cy="381000"/>
          </a:xfrm>
          <a:prstGeom prst="line">
            <a:avLst/>
          </a:prstGeom>
          <a:ln w="22860">
            <a:solidFill>
              <a:srgbClr val="6638F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7543800" y="3111500"/>
            <a:ext cx="2336800" cy="2524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638F0"/>
                </a:solidFill>
                <a:latin typeface="Noto Sans CJK SC"/>
              </a:rPr>
              <a:t>检索结果交回 Runtime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6200"/>
          </a:xfrm>
          <a:prstGeom prst="rect">
            <a:avLst/>
          </a:prstGeom>
          <a:solidFill>
            <a:srgbClr val="24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800" y="304800"/>
            <a:ext cx="11430000" cy="2524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456D6"/>
                </a:solidFill>
                <a:latin typeface="Noto Sans CJK SC"/>
              </a:rPr>
              <a:t>亮点地图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800" y="685800"/>
            <a:ext cx="13512800" cy="54101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4259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24D"/>
                </a:solidFill>
                <a:latin typeface="Noto Sans CJK SC"/>
              </a:rPr>
              <a:t>四个协作问题，分别在不同位置解决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800" y="1295400"/>
            <a:ext cx="135128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1748C"/>
                </a:solidFill>
                <a:latin typeface="Noto Sans CJK SC"/>
              </a:rPr>
              <a:t>亮点按问题展开；Embedding、Logit、显式 KV 和 APC 各有使用条件。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58800" y="1778000"/>
            <a:ext cx="13512800" cy="0"/>
          </a:xfrm>
          <a:prstGeom prst="line">
            <a:avLst/>
          </a:prstGeom>
          <a:ln w="12700">
            <a:solidFill>
              <a:srgbClr val="D5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58800" y="7797800"/>
            <a:ext cx="3175000" cy="1803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48C"/>
                </a:solidFill>
                <a:latin typeface="Noto Sans CJK SC"/>
              </a:rPr>
              <a:t>STATEBUS  /  答辩内容页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0" y="7797800"/>
            <a:ext cx="8890000" cy="1803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48C"/>
                </a:solidFill>
                <a:latin typeface="Noto Sans CJK SC"/>
              </a:rPr>
              <a:t>highlights_overview.md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87400" y="7772400"/>
            <a:ext cx="584200" cy="19837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48C"/>
                </a:solidFill>
                <a:latin typeface="Noto Sans CJK SC"/>
              </a:rPr>
              <a:t>04/18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800" y="2159000"/>
            <a:ext cx="825500" cy="6131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4828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456D6"/>
                </a:solidFill>
                <a:latin typeface="Noto Sans CJK S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51000" y="2159000"/>
            <a:ext cx="5308600" cy="4508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55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7324D"/>
                </a:solidFill>
                <a:latin typeface="Noto Sans CJK SC"/>
              </a:rPr>
              <a:t>交接时传什么？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88200" y="2209800"/>
            <a:ext cx="6883400" cy="3606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84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456D6"/>
                </a:solidFill>
                <a:latin typeface="Noto Sans CJK SC"/>
              </a:rPr>
              <a:t>结构化协议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51000" y="2667000"/>
            <a:ext cx="116586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1748C"/>
                </a:solidFill>
                <a:latin typeface="Noto Sans CJK SC"/>
              </a:rPr>
              <a:t>能力、请求、结果引用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651000" y="3175000"/>
            <a:ext cx="12420600" cy="0"/>
          </a:xfrm>
          <a:prstGeom prst="line">
            <a:avLst/>
          </a:prstGeom>
          <a:ln w="12700">
            <a:solidFill>
              <a:srgbClr val="D5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58800" y="3365500"/>
            <a:ext cx="825500" cy="6131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4828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B87717"/>
                </a:solidFill>
                <a:latin typeface="Noto Sans CJK SC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1000" y="3365500"/>
            <a:ext cx="5308600" cy="4508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55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7324D"/>
                </a:solidFill>
                <a:latin typeface="Noto Sans CJK SC"/>
              </a:rPr>
              <a:t>中间工作怎样继续用？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88200" y="3416300"/>
            <a:ext cx="6883400" cy="3606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84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87717"/>
                </a:solidFill>
                <a:latin typeface="Noto Sans CJK SC"/>
              </a:rPr>
              <a:t>Embedding · Logit · KV · APC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51000" y="3873500"/>
            <a:ext cx="116586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1748C"/>
                </a:solidFill>
                <a:latin typeface="Noto Sans CJK SC"/>
              </a:rPr>
              <a:t>选证据 / 判断展开 / 复用计算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651000" y="4381500"/>
            <a:ext cx="12420600" cy="0"/>
          </a:xfrm>
          <a:prstGeom prst="line">
            <a:avLst/>
          </a:prstGeom>
          <a:ln w="12700">
            <a:solidFill>
              <a:srgbClr val="D5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58800" y="4572000"/>
            <a:ext cx="825500" cy="6131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4828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38E84"/>
                </a:solidFill>
                <a:latin typeface="Noto Sans CJK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51000" y="4572000"/>
            <a:ext cx="5308600" cy="4508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55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7324D"/>
                </a:solidFill>
                <a:latin typeface="Noto Sans CJK SC"/>
              </a:rPr>
              <a:t>拿到资料怎样算完？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88200" y="4622800"/>
            <a:ext cx="6883400" cy="3606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84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38E84"/>
                </a:solidFill>
                <a:latin typeface="Noto Sans CJK SC"/>
              </a:rPr>
              <a:t>DSL / CodeAct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51000" y="5080000"/>
            <a:ext cx="116586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1748C"/>
                </a:solidFill>
                <a:latin typeface="Noto Sans CJK SC"/>
              </a:rPr>
              <a:t>固定变换或受限 Python，交付同一种结果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651000" y="5588000"/>
            <a:ext cx="12420600" cy="0"/>
          </a:xfrm>
          <a:prstGeom prst="line">
            <a:avLst/>
          </a:prstGeom>
          <a:ln w="12700">
            <a:solidFill>
              <a:srgbClr val="D5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58800" y="5778500"/>
            <a:ext cx="825500" cy="6131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4828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6638F0"/>
                </a:solidFill>
                <a:latin typeface="Noto Sans CJK SC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51000" y="5778500"/>
            <a:ext cx="5308600" cy="4508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55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7324D"/>
                </a:solidFill>
                <a:latin typeface="Noto Sans CJK SC"/>
              </a:rPr>
              <a:t>下一轮怎样少重做？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88200" y="5829300"/>
            <a:ext cx="6883400" cy="3606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84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6638F0"/>
                </a:solidFill>
                <a:latin typeface="Noto Sans CJK SC"/>
              </a:rPr>
              <a:t>Memory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51000" y="6286500"/>
            <a:ext cx="116586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1748C"/>
                </a:solidFill>
                <a:latin typeface="Noto Sans CJK SC"/>
              </a:rPr>
              <a:t>找到历史方法，在当前输入上重新执行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8800" y="7073900"/>
            <a:ext cx="13512800" cy="533400"/>
          </a:xfrm>
          <a:prstGeom prst="rect">
            <a:avLst/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8800" y="7073900"/>
            <a:ext cx="50800" cy="533400"/>
          </a:xfrm>
          <a:prstGeom prst="rect">
            <a:avLst/>
          </a:prstGeom>
          <a:solidFill>
            <a:srgbClr val="24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2000" y="7162800"/>
            <a:ext cx="130810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324D"/>
                </a:solidFill>
                <a:latin typeface="Noto Sans CJK SC"/>
              </a:rPr>
              <a:t>协议规定交接；状态保留中间工作；执行产出结果；Memory 让方法跨任务复用。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6200"/>
          </a:xfrm>
          <a:prstGeom prst="rect">
            <a:avLst/>
          </a:prstGeom>
          <a:solidFill>
            <a:srgbClr val="24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800" y="304800"/>
            <a:ext cx="11430000" cy="2524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456D6"/>
                </a:solidFill>
                <a:latin typeface="Noto Sans CJK SC"/>
              </a:rPr>
              <a:t>亮点  /  结构化通信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800" y="685800"/>
            <a:ext cx="13512800" cy="54101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4259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24D"/>
                </a:solidFill>
                <a:latin typeface="Noto Sans CJK SC"/>
              </a:rPr>
              <a:t>一次交接先约定输入和输出，再交给 Worker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800" y="1295400"/>
            <a:ext cx="135128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1748C"/>
                </a:solidFill>
                <a:latin typeface="Noto Sans CJK SC"/>
              </a:rPr>
              <a:t>协议让接收方知道要读哪个对象、执行什么动作、按什么要求交付。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58800" y="1778000"/>
            <a:ext cx="13512800" cy="0"/>
          </a:xfrm>
          <a:prstGeom prst="line">
            <a:avLst/>
          </a:prstGeom>
          <a:ln w="12700">
            <a:solidFill>
              <a:srgbClr val="D5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58800" y="7797800"/>
            <a:ext cx="3175000" cy="1803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48C"/>
                </a:solidFill>
                <a:latin typeface="Noto Sans CJK SC"/>
              </a:rPr>
              <a:t>STATEBUS  /  答辩内容页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0" y="7797800"/>
            <a:ext cx="8890000" cy="1803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48C"/>
                </a:solidFill>
                <a:latin typeface="Noto Sans CJK SC"/>
              </a:rPr>
              <a:t>structured_protocol.md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87400" y="7772400"/>
            <a:ext cx="584200" cy="19837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48C"/>
                </a:solidFill>
                <a:latin typeface="Noto Sans CJK SC"/>
              </a:rPr>
              <a:t>05/18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8800" y="2235200"/>
            <a:ext cx="3098800" cy="787400"/>
          </a:xfrm>
          <a:prstGeom prst="roundRect">
            <a:avLst>
              <a:gd name="adj" fmla="val 6451"/>
            </a:avLst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400" y="2451100"/>
            <a:ext cx="2895600" cy="3606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284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456D6"/>
                </a:solidFill>
                <a:latin typeface="Noto Sans CJK SC"/>
              </a:rPr>
              <a:t>能力登记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57600" y="2628900"/>
            <a:ext cx="317500" cy="0"/>
          </a:xfrm>
          <a:prstGeom prst="line">
            <a:avLst/>
          </a:prstGeom>
          <a:ln w="22860">
            <a:solidFill>
              <a:srgbClr val="2456D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025900" y="2235200"/>
            <a:ext cx="3098800" cy="787400"/>
          </a:xfrm>
          <a:prstGeom prst="roundRect">
            <a:avLst>
              <a:gd name="adj" fmla="val 6451"/>
            </a:avLst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27500" y="2451100"/>
            <a:ext cx="2895600" cy="3606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284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456D6"/>
                </a:solidFill>
                <a:latin typeface="Noto Sans CJK SC"/>
              </a:rPr>
              <a:t>请求 ExecRequest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24700" y="2628900"/>
            <a:ext cx="317500" cy="0"/>
          </a:xfrm>
          <a:prstGeom prst="line">
            <a:avLst/>
          </a:prstGeom>
          <a:ln w="22860">
            <a:solidFill>
              <a:srgbClr val="2456D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93000" y="2235200"/>
            <a:ext cx="3098800" cy="787400"/>
          </a:xfrm>
          <a:prstGeom prst="roundRect">
            <a:avLst>
              <a:gd name="adj" fmla="val 6451"/>
            </a:avLst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94600" y="2451100"/>
            <a:ext cx="2895600" cy="3606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284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456D6"/>
                </a:solidFill>
                <a:latin typeface="Noto Sans CJK SC"/>
              </a:rPr>
              <a:t>角色输入投影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591800" y="2628900"/>
            <a:ext cx="317500" cy="0"/>
          </a:xfrm>
          <a:prstGeom prst="line">
            <a:avLst/>
          </a:prstGeom>
          <a:ln w="22860">
            <a:solidFill>
              <a:srgbClr val="2456D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960100" y="2235200"/>
            <a:ext cx="3098800" cy="787400"/>
          </a:xfrm>
          <a:prstGeom prst="roundRect">
            <a:avLst>
              <a:gd name="adj" fmla="val 6451"/>
            </a:avLst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61700" y="2451100"/>
            <a:ext cx="2895600" cy="3606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284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456D6"/>
                </a:solidFill>
                <a:latin typeface="Noto Sans CJK SC"/>
              </a:rPr>
              <a:t>Worker 执行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8800" y="3429000"/>
            <a:ext cx="4102100" cy="2832100"/>
          </a:xfrm>
          <a:prstGeom prst="roundRect">
            <a:avLst>
              <a:gd name="adj" fmla="val 2242"/>
            </a:avLst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8800" y="3429000"/>
            <a:ext cx="38100" cy="2832100"/>
          </a:xfrm>
          <a:prstGeom prst="rect">
            <a:avLst/>
          </a:prstGeom>
          <a:solidFill>
            <a:srgbClr val="24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600" y="3581400"/>
            <a:ext cx="3746500" cy="41478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265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456D6"/>
                </a:solidFill>
                <a:latin typeface="Noto Sans CJK SC"/>
              </a:rPr>
              <a:t>登记谁能做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600" y="4072381"/>
            <a:ext cx="3746500" cy="10279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697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24D"/>
                </a:solidFill>
                <a:latin typeface="Noto Sans CJK SC"/>
              </a:rPr>
              <a:t>角色：Executor</a:t>
            </a:r>
          </a:p>
          <a:p>
            <a:pPr algn="l">
              <a:lnSpc>
                <a:spcPts val="2697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24D"/>
                </a:solidFill>
                <a:latin typeface="Noto Sans CJK SC"/>
              </a:rPr>
              <a:t>输入：可计算数据表</a:t>
            </a:r>
          </a:p>
          <a:p>
            <a:pPr algn="l">
              <a:lnSpc>
                <a:spcPts val="2697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24D"/>
                </a:solidFill>
                <a:latin typeface="Noto Sans CJK SC"/>
              </a:rPr>
              <a:t>输出：结构化 Artifact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65700" y="3429000"/>
            <a:ext cx="4699000" cy="2832100"/>
          </a:xfrm>
          <a:prstGeom prst="roundRect">
            <a:avLst>
              <a:gd name="adj" fmla="val 2242"/>
            </a:avLst>
          </a:prstGeom>
          <a:solidFill>
            <a:srgbClr val="E9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65700" y="3429000"/>
            <a:ext cx="38100" cy="2832100"/>
          </a:xfrm>
          <a:prstGeom prst="rect">
            <a:avLst/>
          </a:prstGeom>
          <a:solidFill>
            <a:srgbClr val="138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43500" y="3581400"/>
            <a:ext cx="4343400" cy="3967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12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38E84"/>
                </a:solidFill>
                <a:latin typeface="Noto Sans CJK SC"/>
              </a:rPr>
              <a:t>请求字段（结构示意）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43500" y="4054348"/>
            <a:ext cx="4343400" cy="12984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</a:rPr>
              <a:t>task / step / attempt</a:t>
            </a:r>
          </a:p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</a:rPr>
              <a:t>operation：本步计算动作</a:t>
            </a:r>
          </a:p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</a:rPr>
              <a:t>input_refs：本月数据引用</a:t>
            </a:r>
          </a:p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</a:rPr>
              <a:t>output_contract：字段与类型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69500" y="3429000"/>
            <a:ext cx="4102100" cy="2832100"/>
          </a:xfrm>
          <a:prstGeom prst="roundRect">
            <a:avLst>
              <a:gd name="adj" fmla="val 2242"/>
            </a:avLst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969500" y="3429000"/>
            <a:ext cx="38100" cy="2832100"/>
          </a:xfrm>
          <a:prstGeom prst="rect">
            <a:avLst/>
          </a:prstGeom>
          <a:solidFill>
            <a:srgbClr val="24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47300" y="3581400"/>
            <a:ext cx="3746500" cy="41478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265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456D6"/>
                </a:solidFill>
                <a:latin typeface="Noto Sans CJK SC"/>
              </a:rPr>
              <a:t>执行与返回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7300" y="4072381"/>
            <a:ext cx="3746500" cy="12984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</a:rPr>
              <a:t>Ack → RunStart</a:t>
            </a:r>
          </a:p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</a:rPr>
              <a:t>成功：结果 Ref</a:t>
            </a:r>
          </a:p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</a:rPr>
              <a:t>失败：ErrorResult</a:t>
            </a:r>
          </a:p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</a:rPr>
              <a:t>Runtime 据此继续或调整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8800" y="6477000"/>
            <a:ext cx="135128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324D"/>
                </a:solidFill>
                <a:latin typeface="Noto Sans CJK SC"/>
              </a:rPr>
              <a:t>投影：EvidenceRef → 本步数据行 + locator；下游不再从长消息里猜输入。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8800" y="7073900"/>
            <a:ext cx="13512800" cy="533400"/>
          </a:xfrm>
          <a:prstGeom prst="rect">
            <a:avLst/>
          </a:prstGeom>
          <a:solidFill>
            <a:srgbClr val="E9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8800" y="7073900"/>
            <a:ext cx="50800" cy="533400"/>
          </a:xfrm>
          <a:prstGeom prst="rect">
            <a:avLst/>
          </a:prstGeom>
          <a:solidFill>
            <a:srgbClr val="138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2000" y="7162800"/>
            <a:ext cx="130810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324D"/>
                </a:solidFill>
                <a:latin typeface="Noto Sans CJK SC"/>
              </a:rPr>
              <a:t>跨进程控制消息走 Protobuf / UDS；对象内容由 Ref 指向共享内存、mmap 或 workspace。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6200"/>
          </a:xfrm>
          <a:prstGeom prst="rect">
            <a:avLst/>
          </a:prstGeom>
          <a:solidFill>
            <a:srgbClr val="24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800" y="304800"/>
            <a:ext cx="11430000" cy="2524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456D6"/>
                </a:solidFill>
                <a:latin typeface="Noto Sans CJK SC"/>
              </a:rPr>
              <a:t>亮点  /  Embedding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800" y="685800"/>
            <a:ext cx="13512800" cy="54101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4259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24D"/>
                </a:solidFill>
                <a:latin typeface="Noto Sans CJK SC"/>
              </a:rPr>
              <a:t>向量选出候选行，manifest 把它还原成证据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800" y="1295400"/>
            <a:ext cx="135128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1748C"/>
                </a:solidFill>
                <a:latin typeface="Noto Sans CJK SC"/>
              </a:rPr>
              <a:t>矩阵负责排序；Executor 最终拿到的是可计算、可追溯的证据。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58800" y="1778000"/>
            <a:ext cx="13512800" cy="0"/>
          </a:xfrm>
          <a:prstGeom prst="line">
            <a:avLst/>
          </a:prstGeom>
          <a:ln w="12700">
            <a:solidFill>
              <a:srgbClr val="D5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58800" y="7797800"/>
            <a:ext cx="3175000" cy="1803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48C"/>
                </a:solidFill>
                <a:latin typeface="Noto Sans CJK SC"/>
              </a:rPr>
              <a:t>STATEBUS  /  答辩内容页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0" y="7797800"/>
            <a:ext cx="8890000" cy="1803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48C"/>
                </a:solidFill>
                <a:latin typeface="Noto Sans CJK SC"/>
              </a:rPr>
              <a:t>embedding_state.md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87400" y="7772400"/>
            <a:ext cx="584200" cy="19837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48C"/>
                </a:solidFill>
                <a:latin typeface="Noto Sans CJK SC"/>
              </a:rPr>
              <a:t>06/18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8800" y="2222500"/>
            <a:ext cx="3429000" cy="1333500"/>
          </a:xfrm>
          <a:prstGeom prst="roundRect">
            <a:avLst>
              <a:gd name="adj" fmla="val 4761"/>
            </a:avLst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8800" y="2222500"/>
            <a:ext cx="38100" cy="1333500"/>
          </a:xfrm>
          <a:prstGeom prst="rect">
            <a:avLst/>
          </a:prstGeom>
          <a:solidFill>
            <a:srgbClr val="24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600" y="2374900"/>
            <a:ext cx="3073400" cy="3967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12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456D6"/>
                </a:solidFill>
                <a:latin typeface="Noto Sans CJK SC"/>
              </a:rPr>
              <a:t>Retriever 编码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600" y="2847848"/>
            <a:ext cx="3073400" cy="2885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24D"/>
                </a:solidFill>
                <a:latin typeface="Noto Sans CJK SC"/>
              </a:rPr>
              <a:t>query + candidate fragments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800" y="4102100"/>
            <a:ext cx="3429000" cy="1981200"/>
          </a:xfrm>
          <a:prstGeom prst="roundRect">
            <a:avLst>
              <a:gd name="adj" fmla="val 3205"/>
            </a:avLst>
          </a:prstGeom>
          <a:solidFill>
            <a:srgbClr val="E9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8800" y="4102100"/>
            <a:ext cx="38100" cy="1981200"/>
          </a:xfrm>
          <a:prstGeom prst="rect">
            <a:avLst/>
          </a:prstGeom>
          <a:solidFill>
            <a:srgbClr val="138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600" y="4254500"/>
            <a:ext cx="3073400" cy="3967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12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38E84"/>
                </a:solidFill>
                <a:latin typeface="Noto Sans CJK SC"/>
              </a:rPr>
              <a:t>数值对象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600" y="4727448"/>
            <a:ext cx="3073400" cy="54101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324D"/>
                </a:solidFill>
                <a:latin typeface="Noto Sans CJK SC"/>
              </a:rPr>
              <a:t>float32 query / candidate matrix</a:t>
            </a:r>
          </a:p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324D"/>
                </a:solidFill>
                <a:latin typeface="Noto Sans CJK SC"/>
              </a:rPr>
              <a:t>存放：shared memory / mmap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73300" y="3556000"/>
            <a:ext cx="0" cy="546100"/>
          </a:xfrm>
          <a:prstGeom prst="line">
            <a:avLst/>
          </a:prstGeom>
          <a:ln w="22860">
            <a:solidFill>
              <a:srgbClr val="138E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308600" y="2222500"/>
            <a:ext cx="3556000" cy="1333500"/>
          </a:xfrm>
          <a:prstGeom prst="roundRect">
            <a:avLst>
              <a:gd name="adj" fmla="val 4761"/>
            </a:avLst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08600" y="2222500"/>
            <a:ext cx="38100" cy="1333500"/>
          </a:xfrm>
          <a:prstGeom prst="rect">
            <a:avLst/>
          </a:prstGeom>
          <a:solidFill>
            <a:srgbClr val="24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0" y="2374900"/>
            <a:ext cx="3200400" cy="3967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12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456D6"/>
                </a:solidFill>
                <a:latin typeface="Noto Sans CJK SC"/>
              </a:rPr>
              <a:t>Consumer 读取矩阵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2847848"/>
            <a:ext cx="32004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</a:rPr>
              <a:t>相似度 → top-k row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987800" y="2794000"/>
            <a:ext cx="1320800" cy="0"/>
          </a:xfrm>
          <a:prstGeom prst="line">
            <a:avLst/>
          </a:prstGeom>
          <a:ln w="22860">
            <a:solidFill>
              <a:srgbClr val="2456D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127500" y="2247900"/>
            <a:ext cx="1193800" cy="2524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456D6"/>
                </a:solidFill>
                <a:latin typeface="Noto Sans CJK SC"/>
              </a:rPr>
              <a:t>Ref + id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987800" y="5067300"/>
            <a:ext cx="762000" cy="0"/>
          </a:xfrm>
          <a:prstGeom prst="line">
            <a:avLst/>
          </a:prstGeom>
          <a:ln w="22860">
            <a:solidFill>
              <a:srgbClr val="138E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4749800" y="3251200"/>
            <a:ext cx="0" cy="1816100"/>
          </a:xfrm>
          <a:prstGeom prst="line">
            <a:avLst/>
          </a:prstGeom>
          <a:ln w="22860">
            <a:solidFill>
              <a:srgbClr val="138E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749800" y="3251200"/>
            <a:ext cx="558800" cy="0"/>
          </a:xfrm>
          <a:prstGeom prst="line">
            <a:avLst/>
          </a:prstGeom>
          <a:ln w="22860">
            <a:solidFill>
              <a:srgbClr val="138E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152900" y="4381500"/>
            <a:ext cx="1092200" cy="2524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38E84"/>
                </a:solidFill>
                <a:latin typeface="Noto Sans CJK SC"/>
              </a:rPr>
              <a:t>对象读取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98100" y="2222500"/>
            <a:ext cx="3873500" cy="1333500"/>
          </a:xfrm>
          <a:prstGeom prst="roundRect">
            <a:avLst>
              <a:gd name="adj" fmla="val 4761"/>
            </a:avLst>
          </a:prstGeom>
          <a:solidFill>
            <a:srgbClr val="F9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198100" y="2222500"/>
            <a:ext cx="38100" cy="1333500"/>
          </a:xfrm>
          <a:prstGeom prst="rect">
            <a:avLst/>
          </a:prstGeom>
          <a:solidFill>
            <a:srgbClr val="B87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75900" y="2374900"/>
            <a:ext cx="3517900" cy="43281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408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B87717"/>
                </a:solidFill>
                <a:latin typeface="Noto Sans CJK SC"/>
              </a:rPr>
              <a:t>选中 row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75900" y="2883916"/>
            <a:ext cx="3517900" cy="27050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324D"/>
                </a:solidFill>
                <a:latin typeface="Noto Sans CJK SC"/>
              </a:rPr>
              <a:t>行号示意；不是实验测量值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864600" y="2794000"/>
            <a:ext cx="1333500" cy="0"/>
          </a:xfrm>
          <a:prstGeom prst="line">
            <a:avLst/>
          </a:prstGeom>
          <a:ln w="22860">
            <a:solidFill>
              <a:srgbClr val="2456D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0198100" y="4419600"/>
            <a:ext cx="3873500" cy="1663700"/>
          </a:xfrm>
          <a:prstGeom prst="roundRect">
            <a:avLst>
              <a:gd name="adj" fmla="val 3816"/>
            </a:avLst>
          </a:prstGeom>
          <a:solidFill>
            <a:srgbClr val="E9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198100" y="4419600"/>
            <a:ext cx="38100" cy="1663700"/>
          </a:xfrm>
          <a:prstGeom prst="rect">
            <a:avLst/>
          </a:prstGeom>
          <a:solidFill>
            <a:srgbClr val="138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75900" y="4572000"/>
            <a:ext cx="3517900" cy="3967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12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38E84"/>
                </a:solidFill>
                <a:latin typeface="Noto Sans CJK SC"/>
              </a:rPr>
              <a:t>HydrateManifest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75900" y="5044948"/>
            <a:ext cx="3517900" cy="64922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</a:rPr>
              <a:t>row 3 → candidate_id</a:t>
            </a:r>
          </a:p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</a:rPr>
              <a:t>→ 原文 / 表格行 + locator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2128500" y="3556000"/>
            <a:ext cx="0" cy="863600"/>
          </a:xfrm>
          <a:prstGeom prst="line">
            <a:avLst/>
          </a:prstGeom>
          <a:ln w="22860">
            <a:solidFill>
              <a:srgbClr val="138E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5308600" y="4419600"/>
            <a:ext cx="3556000" cy="1663700"/>
          </a:xfrm>
          <a:prstGeom prst="roundRect">
            <a:avLst>
              <a:gd name="adj" fmla="val 3816"/>
            </a:avLst>
          </a:prstGeom>
          <a:solidFill>
            <a:srgbClr val="E9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308600" y="4419600"/>
            <a:ext cx="38100" cy="1663700"/>
          </a:xfrm>
          <a:prstGeom prst="rect">
            <a:avLst/>
          </a:prstGeom>
          <a:solidFill>
            <a:srgbClr val="138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0" y="4572000"/>
            <a:ext cx="3200400" cy="41478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265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38E84"/>
                </a:solidFill>
                <a:latin typeface="Noto Sans CJK SC"/>
              </a:rPr>
              <a:t>Executor 输入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0" y="5062982"/>
            <a:ext cx="3200400" cy="64922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</a:rPr>
              <a:t>裁剪后的证据</a:t>
            </a:r>
          </a:p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</a:rPr>
              <a:t>保留来源位置</a:t>
            </a:r>
          </a:p>
        </p:txBody>
      </p:sp>
      <p:cxnSp>
        <p:nvCxnSpPr>
          <p:cNvPr id="43" name="Connector 42"/>
          <p:cNvCxnSpPr/>
          <p:nvPr/>
        </p:nvCxnSpPr>
        <p:spPr>
          <a:xfrm flipH="1">
            <a:off x="8864600" y="5257800"/>
            <a:ext cx="1333500" cy="0"/>
          </a:xfrm>
          <a:prstGeom prst="line">
            <a:avLst/>
          </a:prstGeom>
          <a:ln w="22860">
            <a:solidFill>
              <a:srgbClr val="138E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58800" y="6477000"/>
            <a:ext cx="135128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1748C"/>
                </a:solidFill>
                <a:latin typeface="Noto Sans CJK SC"/>
              </a:rPr>
              <a:t>控制消息只带引用与选择参数；矩阵通过对象载体读取。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8800" y="7073900"/>
            <a:ext cx="13512800" cy="533400"/>
          </a:xfrm>
          <a:prstGeom prst="rect">
            <a:avLst/>
          </a:prstGeom>
          <a:solidFill>
            <a:srgbClr val="E9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58800" y="7073900"/>
            <a:ext cx="50800" cy="533400"/>
          </a:xfrm>
          <a:prstGeom prst="rect">
            <a:avLst/>
          </a:prstGeom>
          <a:solidFill>
            <a:srgbClr val="138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2000" y="7162800"/>
            <a:ext cx="130810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324D"/>
                </a:solidFill>
                <a:latin typeface="Noto Sans CJK SC"/>
              </a:rPr>
              <a:t>状态生命周期：publish → transfer → consume → release；矩阵更小不是本页的收益前提。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6200"/>
          </a:xfrm>
          <a:prstGeom prst="rect">
            <a:avLst/>
          </a:prstGeom>
          <a:solidFill>
            <a:srgbClr val="24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800" y="304800"/>
            <a:ext cx="11430000" cy="2524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456D6"/>
                </a:solidFill>
                <a:latin typeface="Noto Sans CJK SC"/>
              </a:rPr>
              <a:t>亮点  /  Logit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800" y="685800"/>
            <a:ext cx="13512800" cy="54101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4259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24D"/>
                </a:solidFill>
                <a:latin typeface="Noto Sans CJK SC"/>
              </a:rPr>
              <a:t>先看紧凑证据，拿不准时才追加材料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800" y="1295400"/>
            <a:ext cx="135128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1748C"/>
                </a:solidFill>
                <a:latin typeface="Noto Sans CJK SC"/>
              </a:rPr>
              <a:t>margin 看前两名差距，other_mass 看候选集合之外的概率；两者一起决定是否展开。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58800" y="1778000"/>
            <a:ext cx="13512800" cy="0"/>
          </a:xfrm>
          <a:prstGeom prst="line">
            <a:avLst/>
          </a:prstGeom>
          <a:ln w="12700">
            <a:solidFill>
              <a:srgbClr val="D5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58800" y="7797800"/>
            <a:ext cx="3175000" cy="1803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48C"/>
                </a:solidFill>
                <a:latin typeface="Noto Sans CJK SC"/>
              </a:rPr>
              <a:t>STATEBUS  /  答辩内容页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0" y="7797800"/>
            <a:ext cx="8890000" cy="1803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48C"/>
                </a:solidFill>
                <a:latin typeface="Noto Sans CJK SC"/>
              </a:rPr>
              <a:t>logit_state.md · results.md（专项配置）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87400" y="7772400"/>
            <a:ext cx="584200" cy="19837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48C"/>
                </a:solidFill>
                <a:latin typeface="Noto Sans CJK SC"/>
              </a:rPr>
              <a:t>07/18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8800" y="2159000"/>
            <a:ext cx="2971800" cy="381000"/>
          </a:xfrm>
          <a:prstGeom prst="roundRect">
            <a:avLst>
              <a:gd name="adj" fmla="val 10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400" y="2209800"/>
            <a:ext cx="2768600" cy="2524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1748C"/>
                </a:solidFill>
                <a:latin typeface="Noto Sans CJK SC"/>
              </a:rPr>
              <a:t>概率示意；非实验样本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800" y="2946400"/>
            <a:ext cx="1600200" cy="34264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697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24D"/>
                </a:solidFill>
                <a:latin typeface="Noto Sans CJK SC"/>
              </a:rPr>
              <a:t>候选 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09800" y="3009900"/>
            <a:ext cx="2870200" cy="228600"/>
          </a:xfrm>
          <a:prstGeom prst="rect">
            <a:avLst/>
          </a:prstGeom>
          <a:solidFill>
            <a:srgbClr val="D5E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09800" y="3009900"/>
            <a:ext cx="1607312" cy="228600"/>
          </a:xfrm>
          <a:prstGeom prst="rect">
            <a:avLst/>
          </a:prstGeom>
          <a:solidFill>
            <a:srgbClr val="B87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4000" y="2921000"/>
            <a:ext cx="889000" cy="3606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84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87717"/>
                </a:solidFill>
                <a:latin typeface="Noto Sans CJK SC"/>
              </a:rPr>
              <a:t>0.56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8800" y="3670300"/>
            <a:ext cx="1600200" cy="34264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697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24D"/>
                </a:solidFill>
                <a:latin typeface="Noto Sans CJK SC"/>
              </a:rPr>
              <a:t>候选 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09800" y="3733800"/>
            <a:ext cx="2870200" cy="228600"/>
          </a:xfrm>
          <a:prstGeom prst="rect">
            <a:avLst/>
          </a:prstGeom>
          <a:solidFill>
            <a:srgbClr val="D5E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09800" y="3733800"/>
            <a:ext cx="889762" cy="228600"/>
          </a:xfrm>
          <a:prstGeom prst="rect">
            <a:avLst/>
          </a:prstGeom>
          <a:solidFill>
            <a:srgbClr val="B87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34000" y="3644900"/>
            <a:ext cx="889000" cy="3606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84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87717"/>
                </a:solidFill>
                <a:latin typeface="Noto Sans CJK SC"/>
              </a:rPr>
              <a:t>0.31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8800" y="4394200"/>
            <a:ext cx="1600200" cy="34264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697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24D"/>
                </a:solidFill>
                <a:latin typeface="Noto Sans CJK SC"/>
              </a:rPr>
              <a:t>候选 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09800" y="4457700"/>
            <a:ext cx="2870200" cy="228600"/>
          </a:xfrm>
          <a:prstGeom prst="rect">
            <a:avLst/>
          </a:prstGeom>
          <a:solidFill>
            <a:srgbClr val="D5E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09800" y="4457700"/>
            <a:ext cx="229616" cy="228600"/>
          </a:xfrm>
          <a:prstGeom prst="rect">
            <a:avLst/>
          </a:prstGeom>
          <a:solidFill>
            <a:srgbClr val="B87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34000" y="4368800"/>
            <a:ext cx="889000" cy="3606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84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87717"/>
                </a:solidFill>
                <a:latin typeface="Noto Sans CJK SC"/>
              </a:rPr>
              <a:t>0.08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8800" y="5118100"/>
            <a:ext cx="1600200" cy="34264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697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24D"/>
                </a:solidFill>
                <a:latin typeface="Noto Sans CJK SC"/>
              </a:rPr>
              <a:t>集合之外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09800" y="5181600"/>
            <a:ext cx="2870200" cy="228600"/>
          </a:xfrm>
          <a:prstGeom prst="rect">
            <a:avLst/>
          </a:prstGeom>
          <a:solidFill>
            <a:srgbClr val="D5E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09800" y="5181600"/>
            <a:ext cx="143510" cy="228600"/>
          </a:xfrm>
          <a:prstGeom prst="rect">
            <a:avLst/>
          </a:prstGeom>
          <a:solidFill>
            <a:srgbClr val="61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34000" y="5092700"/>
            <a:ext cx="889000" cy="3606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84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61748C"/>
                </a:solidFill>
                <a:latin typeface="Noto Sans CJK SC"/>
              </a:rPr>
              <a:t>0.05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8800" y="6096000"/>
            <a:ext cx="5969000" cy="68529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697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B87717"/>
                </a:solidFill>
                <a:latin typeface="Noto Sans CJK SC"/>
              </a:rPr>
              <a:t>margin = p_top1 − p_top2 = 0.25</a:t>
            </a:r>
          </a:p>
          <a:p>
            <a:pPr algn="l">
              <a:lnSpc>
                <a:spcPts val="2697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B87717"/>
                </a:solidFill>
                <a:latin typeface="Noto Sans CJK SC"/>
              </a:rPr>
              <a:t>other_mass = 1 − Σ p_i = 0.05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43700" y="2489200"/>
            <a:ext cx="3111500" cy="1320800"/>
          </a:xfrm>
          <a:prstGeom prst="roundRect">
            <a:avLst>
              <a:gd name="adj" fmla="val 4807"/>
            </a:avLst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743700" y="2489200"/>
            <a:ext cx="38100" cy="1320800"/>
          </a:xfrm>
          <a:prstGeom prst="rect">
            <a:avLst/>
          </a:prstGeom>
          <a:solidFill>
            <a:srgbClr val="24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21500" y="2641600"/>
            <a:ext cx="2755900" cy="3967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12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456D6"/>
                </a:solidFill>
                <a:latin typeface="Noto Sans CJK SC"/>
              </a:rPr>
              <a:t>首次判断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21500" y="3114548"/>
            <a:ext cx="2755900" cy="5770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24D"/>
                </a:solidFill>
                <a:latin typeface="Noto Sans CJK SC"/>
              </a:rPr>
              <a:t>LogitStateRef → Runtime</a:t>
            </a:r>
          </a:p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24D"/>
                </a:solidFill>
                <a:latin typeface="Noto Sans CJK SC"/>
              </a:rPr>
              <a:t>紧凑证据是否足够？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036300" y="2489200"/>
            <a:ext cx="3035300" cy="1320800"/>
          </a:xfrm>
          <a:prstGeom prst="roundRect">
            <a:avLst>
              <a:gd name="adj" fmla="val 4807"/>
            </a:avLst>
          </a:prstGeom>
          <a:solidFill>
            <a:srgbClr val="E9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036300" y="2489200"/>
            <a:ext cx="38100" cy="1320800"/>
          </a:xfrm>
          <a:prstGeom prst="rect">
            <a:avLst/>
          </a:prstGeom>
          <a:solidFill>
            <a:srgbClr val="138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214100" y="2641600"/>
            <a:ext cx="2679700" cy="3967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12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38E84"/>
                </a:solidFill>
                <a:latin typeface="Noto Sans CJK SC"/>
              </a:rPr>
              <a:t>accept / 继续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14100" y="3114548"/>
            <a:ext cx="2679700" cy="64922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</a:rPr>
              <a:t>条件满足</a:t>
            </a:r>
          </a:p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</a:rPr>
              <a:t>使用当前选择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855200" y="3149600"/>
            <a:ext cx="1181100" cy="0"/>
          </a:xfrm>
          <a:prstGeom prst="line">
            <a:avLst/>
          </a:prstGeom>
          <a:ln w="22860">
            <a:solidFill>
              <a:srgbClr val="138E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0058400" y="2794000"/>
            <a:ext cx="800100" cy="27050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38E84"/>
                </a:solidFill>
                <a:latin typeface="Noto Sans CJK SC"/>
              </a:rPr>
              <a:t>满足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743700" y="4483100"/>
            <a:ext cx="3111500" cy="1066800"/>
          </a:xfrm>
          <a:prstGeom prst="roundRect">
            <a:avLst>
              <a:gd name="adj" fmla="val 5952"/>
            </a:avLst>
          </a:prstGeom>
          <a:solidFill>
            <a:srgbClr val="F9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743700" y="4483100"/>
            <a:ext cx="38100" cy="1066800"/>
          </a:xfrm>
          <a:prstGeom prst="rect">
            <a:avLst/>
          </a:prstGeom>
          <a:solidFill>
            <a:srgbClr val="B87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21500" y="4635500"/>
            <a:ext cx="2755900" cy="37871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98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B87717"/>
                </a:solidFill>
                <a:latin typeface="Noto Sans CJK SC"/>
              </a:rPr>
              <a:t>expand / 补证据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21500" y="5090414"/>
            <a:ext cx="2755900" cy="30657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41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24D"/>
                </a:solidFill>
                <a:latin typeface="Noto Sans CJK SC"/>
              </a:rPr>
              <a:t>完整证据再做一次选择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293100" y="3810000"/>
            <a:ext cx="0" cy="673100"/>
          </a:xfrm>
          <a:prstGeom prst="line">
            <a:avLst/>
          </a:prstGeom>
          <a:ln w="22860">
            <a:solidFill>
              <a:srgbClr val="B8771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8483600" y="3949700"/>
            <a:ext cx="1930400" cy="27050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87717"/>
                </a:solidFill>
                <a:latin typeface="Noto Sans CJK SC"/>
              </a:rPr>
              <a:t>不满足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1036300" y="4483100"/>
            <a:ext cx="3035300" cy="1066800"/>
          </a:xfrm>
          <a:prstGeom prst="roundRect">
            <a:avLst>
              <a:gd name="adj" fmla="val 5952"/>
            </a:avLst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036300" y="4483100"/>
            <a:ext cx="38100" cy="1066800"/>
          </a:xfrm>
          <a:prstGeom prst="rect">
            <a:avLst/>
          </a:prstGeom>
          <a:solidFill>
            <a:srgbClr val="24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214100" y="4635500"/>
            <a:ext cx="2679700" cy="3967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12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456D6"/>
                </a:solidFill>
                <a:latin typeface="Noto Sans CJK SC"/>
              </a:rPr>
              <a:t>重新判断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14100" y="5108448"/>
            <a:ext cx="2679700" cy="30657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41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24D"/>
                </a:solidFill>
                <a:latin typeface="Noto Sans CJK SC"/>
              </a:rPr>
              <a:t>使用新的选择与概率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855200" y="5016500"/>
            <a:ext cx="1181100" cy="0"/>
          </a:xfrm>
          <a:prstGeom prst="line">
            <a:avLst/>
          </a:prstGeom>
          <a:ln w="22860">
            <a:solidFill>
              <a:srgbClr val="B8771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8255000" y="6273800"/>
            <a:ext cx="2514600" cy="381000"/>
          </a:xfrm>
          <a:prstGeom prst="roundRect">
            <a:avLst>
              <a:gd name="adj" fmla="val 10000"/>
            </a:avLst>
          </a:prstGeom>
          <a:solidFill>
            <a:srgbClr val="E9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56600" y="6324600"/>
            <a:ext cx="2311400" cy="2524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38E84"/>
                </a:solidFill>
                <a:latin typeface="Noto Sans CJK SC"/>
              </a:rPr>
              <a:t>accept / 继续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1226800" y="6273800"/>
            <a:ext cx="2844800" cy="381000"/>
          </a:xfrm>
          <a:prstGeom prst="roundRect">
            <a:avLst>
              <a:gd name="adj" fmla="val 10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328400" y="6324600"/>
            <a:ext cx="2641600" cy="2524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94A48"/>
                </a:solidFill>
                <a:latin typeface="Noto Sans CJK SC"/>
              </a:rPr>
              <a:t>abstain / 不作选择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2547600" y="5549900"/>
            <a:ext cx="0" cy="304800"/>
          </a:xfrm>
          <a:prstGeom prst="line">
            <a:avLst/>
          </a:prstGeom>
          <a:ln w="22860">
            <a:solidFill>
              <a:srgbClr val="138E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9512300" y="5854700"/>
            <a:ext cx="3035300" cy="0"/>
          </a:xfrm>
          <a:prstGeom prst="line">
            <a:avLst/>
          </a:prstGeom>
          <a:ln w="22860">
            <a:solidFill>
              <a:srgbClr val="138E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512300" y="5854700"/>
            <a:ext cx="0" cy="419100"/>
          </a:xfrm>
          <a:prstGeom prst="line">
            <a:avLst/>
          </a:prstGeom>
          <a:ln w="22860">
            <a:solidFill>
              <a:srgbClr val="138E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2547600" y="5549900"/>
            <a:ext cx="0" cy="723900"/>
          </a:xfrm>
          <a:prstGeom prst="line">
            <a:avLst/>
          </a:prstGeom>
          <a:ln w="22860">
            <a:solidFill>
              <a:srgbClr val="B94A4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9779000" y="5930900"/>
            <a:ext cx="1016000" cy="2524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38E84"/>
                </a:solidFill>
                <a:latin typeface="Noto Sans CJK SC"/>
              </a:rPr>
              <a:t>满足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712700" y="5918200"/>
            <a:ext cx="1358900" cy="2524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94A48"/>
                </a:solidFill>
                <a:latin typeface="Noto Sans CJK SC"/>
              </a:rPr>
              <a:t>仍不足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43700" y="2108200"/>
            <a:ext cx="7327900" cy="27050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1748C"/>
                </a:solidFill>
                <a:latin typeface="Noto Sans CJK SC"/>
              </a:rPr>
              <a:t>前提：概率可用，模型选择与 top1 一致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58800" y="7073900"/>
            <a:ext cx="13512800" cy="533400"/>
          </a:xfrm>
          <a:prstGeom prst="rect">
            <a:avLst/>
          </a:prstGeom>
          <a:solidFill>
            <a:srgbClr val="F9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58800" y="7073900"/>
            <a:ext cx="50800" cy="533400"/>
          </a:xfrm>
          <a:prstGeom prst="rect">
            <a:avLst/>
          </a:prstGeom>
          <a:solidFill>
            <a:srgbClr val="B87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62000" y="7162800"/>
            <a:ext cx="130810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324D"/>
                </a:solidFill>
                <a:latin typeface="Noto Sans CJK SC"/>
              </a:rPr>
              <a:t>专项门槛：tau = 0.10，other_mass_limit = 0.20；概率用于控制取证，不保证答案正确。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6200"/>
          </a:xfrm>
          <a:prstGeom prst="rect">
            <a:avLst/>
          </a:prstGeom>
          <a:solidFill>
            <a:srgbClr val="24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800" y="304800"/>
            <a:ext cx="11430000" cy="2524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456D6"/>
                </a:solidFill>
                <a:latin typeface="Noto Sans CJK SC"/>
              </a:rPr>
              <a:t>亮点  /  显式 KV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800" y="685800"/>
            <a:ext cx="13512800" cy="54101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4259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24D"/>
                </a:solidFill>
                <a:latin typeface="Noto Sans CJK SC"/>
              </a:rPr>
              <a:t>公共 parent 只计算一次，后续请求接着算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800" y="1295400"/>
            <a:ext cx="135128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1748C"/>
                </a:solidFill>
                <a:latin typeface="Noto Sans CJK SC"/>
              </a:rPr>
              <a:t>显式 KV 在同一 vLLM Worker 内通过 handle 继续使用 parent；不跨模型搬运张量。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58800" y="1778000"/>
            <a:ext cx="13512800" cy="0"/>
          </a:xfrm>
          <a:prstGeom prst="line">
            <a:avLst/>
          </a:prstGeom>
          <a:ln w="12700">
            <a:solidFill>
              <a:srgbClr val="D5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58800" y="7797800"/>
            <a:ext cx="3175000" cy="1803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48C"/>
                </a:solidFill>
                <a:latin typeface="Noto Sans CJK SC"/>
              </a:rPr>
              <a:t>STATEBUS  /  答辩内容页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0" y="7797800"/>
            <a:ext cx="8890000" cy="1803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48C"/>
                </a:solidFill>
                <a:latin typeface="Noto Sans CJK SC"/>
              </a:rPr>
              <a:t>kv_state.md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87400" y="7772400"/>
            <a:ext cx="584200" cy="19837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48C"/>
                </a:solidFill>
                <a:latin typeface="Noto Sans CJK SC"/>
              </a:rPr>
              <a:t>08/18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800" y="2209800"/>
            <a:ext cx="2921000" cy="41478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265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B94A48"/>
                </a:solidFill>
                <a:latin typeface="Noto Sans CJK SC"/>
              </a:rPr>
              <a:t>重复 full prefill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94100" y="2832100"/>
            <a:ext cx="7023100" cy="495300"/>
          </a:xfrm>
          <a:prstGeom prst="rect">
            <a:avLst/>
          </a:prstGeom>
          <a:solidFill>
            <a:srgbClr val="F9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4100" y="2895600"/>
            <a:ext cx="70231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87717"/>
                </a:solidFill>
                <a:latin typeface="Noto Sans CJK SC"/>
              </a:rPr>
              <a:t>同一份 parent tokens 再计算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642600" y="2832100"/>
            <a:ext cx="3429000" cy="495300"/>
          </a:xfrm>
          <a:prstGeom prst="rect">
            <a:avLst/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42600" y="2895600"/>
            <a:ext cx="34290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456D6"/>
                </a:solidFill>
                <a:latin typeface="Noto Sans CJK SC"/>
              </a:rPr>
              <a:t>suffix 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94100" y="3568700"/>
            <a:ext cx="7023100" cy="495300"/>
          </a:xfrm>
          <a:prstGeom prst="rect">
            <a:avLst/>
          </a:prstGeom>
          <a:solidFill>
            <a:srgbClr val="F9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94100" y="3632200"/>
            <a:ext cx="70231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87717"/>
                </a:solidFill>
                <a:latin typeface="Noto Sans CJK SC"/>
              </a:rPr>
              <a:t>同一份 parent tokens 再计算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42600" y="3568700"/>
            <a:ext cx="3429000" cy="495300"/>
          </a:xfrm>
          <a:prstGeom prst="rect">
            <a:avLst/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42600" y="3632200"/>
            <a:ext cx="34290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456D6"/>
                </a:solidFill>
                <a:latin typeface="Noto Sans CJK SC"/>
              </a:rPr>
              <a:t>suffix 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8800" y="4533900"/>
            <a:ext cx="13512800" cy="2286000"/>
          </a:xfrm>
          <a:prstGeom prst="roundRect">
            <a:avLst>
              <a:gd name="adj" fmla="val 2777"/>
            </a:avLst>
          </a:prstGeom>
          <a:solidFill>
            <a:srgbClr val="FFFFFF"/>
          </a:solidFill>
          <a:ln w="15240">
            <a:solidFill>
              <a:srgbClr val="B87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700" y="4648200"/>
            <a:ext cx="11811000" cy="37871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98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B87717"/>
                </a:solidFill>
                <a:latin typeface="Noto Sans CJK SC"/>
              </a:rPr>
              <a:t>同一 vLLM Worker  /  continuation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5500" y="5283200"/>
            <a:ext cx="2921000" cy="1054100"/>
          </a:xfrm>
          <a:prstGeom prst="roundRect">
            <a:avLst>
              <a:gd name="adj" fmla="val 6024"/>
            </a:avLst>
          </a:prstGeom>
          <a:solidFill>
            <a:srgbClr val="F9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5500" y="5283200"/>
            <a:ext cx="38100" cy="1054100"/>
          </a:xfrm>
          <a:prstGeom prst="rect">
            <a:avLst/>
          </a:prstGeom>
          <a:solidFill>
            <a:srgbClr val="B87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3300" y="5435600"/>
            <a:ext cx="2565400" cy="37871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98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B87717"/>
                </a:solidFill>
                <a:latin typeface="Noto Sans CJK SC"/>
              </a:rPr>
              <a:t>计算 parent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3300" y="5890514"/>
            <a:ext cx="2565400" cy="2885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24D"/>
                </a:solidFill>
                <a:latin typeface="Noto Sans CJK SC"/>
              </a:rPr>
              <a:t>capture 一次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95800" y="5283200"/>
            <a:ext cx="3937000" cy="1054100"/>
          </a:xfrm>
          <a:prstGeom prst="roundRect">
            <a:avLst>
              <a:gd name="adj" fmla="val 6024"/>
            </a:avLst>
          </a:prstGeom>
          <a:solidFill>
            <a:srgbClr val="F9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95800" y="5283200"/>
            <a:ext cx="38100" cy="1054100"/>
          </a:xfrm>
          <a:prstGeom prst="rect">
            <a:avLst/>
          </a:prstGeom>
          <a:solidFill>
            <a:srgbClr val="B87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73600" y="5435600"/>
            <a:ext cx="3581400" cy="3606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84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87717"/>
                </a:solidFill>
                <a:latin typeface="Noto Sans CJK SC"/>
              </a:rPr>
              <a:t>EngineLocalKVHandle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73600" y="5872480"/>
            <a:ext cx="3581400" cy="2885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24D"/>
                </a:solidFill>
                <a:latin typeface="Noto Sans CJK SC"/>
              </a:rPr>
              <a:t>worker-local registry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746500" y="5803900"/>
            <a:ext cx="749300" cy="0"/>
          </a:xfrm>
          <a:prstGeom prst="line">
            <a:avLst/>
          </a:prstGeom>
          <a:ln w="22860">
            <a:solidFill>
              <a:srgbClr val="B8771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0350500" y="5143500"/>
            <a:ext cx="3467100" cy="622300"/>
          </a:xfrm>
          <a:prstGeom prst="roundRect">
            <a:avLst>
              <a:gd name="adj" fmla="val 10204"/>
            </a:avLst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350500" y="5143500"/>
            <a:ext cx="38100" cy="622300"/>
          </a:xfrm>
          <a:prstGeom prst="rect">
            <a:avLst/>
          </a:prstGeom>
          <a:solidFill>
            <a:srgbClr val="24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28300" y="5295900"/>
            <a:ext cx="31115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456D6"/>
                </a:solidFill>
                <a:latin typeface="Noto Sans CJK SC"/>
              </a:rPr>
              <a:t>load parent + suffix 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50500" y="6019800"/>
            <a:ext cx="3467100" cy="622300"/>
          </a:xfrm>
          <a:prstGeom prst="roundRect">
            <a:avLst>
              <a:gd name="adj" fmla="val 10204"/>
            </a:avLst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350500" y="6019800"/>
            <a:ext cx="38100" cy="622300"/>
          </a:xfrm>
          <a:prstGeom prst="rect">
            <a:avLst/>
          </a:prstGeom>
          <a:solidFill>
            <a:srgbClr val="24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28300" y="6172200"/>
            <a:ext cx="31115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456D6"/>
                </a:solidFill>
                <a:latin typeface="Noto Sans CJK SC"/>
              </a:rPr>
              <a:t>load parent + suffix B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432800" y="5689600"/>
            <a:ext cx="800100" cy="0"/>
          </a:xfrm>
          <a:prstGeom prst="line">
            <a:avLst/>
          </a:prstGeom>
          <a:ln w="22860">
            <a:solidFill>
              <a:srgbClr val="B87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9232900" y="5461000"/>
            <a:ext cx="0" cy="228600"/>
          </a:xfrm>
          <a:prstGeom prst="line">
            <a:avLst/>
          </a:prstGeom>
          <a:ln w="22860">
            <a:solidFill>
              <a:srgbClr val="B87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232900" y="5461000"/>
            <a:ext cx="1117600" cy="0"/>
          </a:xfrm>
          <a:prstGeom prst="line">
            <a:avLst/>
          </a:prstGeom>
          <a:ln w="22860">
            <a:solidFill>
              <a:srgbClr val="B8771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432800" y="5981700"/>
            <a:ext cx="1130300" cy="0"/>
          </a:xfrm>
          <a:prstGeom prst="line">
            <a:avLst/>
          </a:prstGeom>
          <a:ln w="22860">
            <a:solidFill>
              <a:srgbClr val="B87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563100" y="5981700"/>
            <a:ext cx="0" cy="355600"/>
          </a:xfrm>
          <a:prstGeom prst="line">
            <a:avLst/>
          </a:prstGeom>
          <a:ln w="22860">
            <a:solidFill>
              <a:srgbClr val="B87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563100" y="6337300"/>
            <a:ext cx="787400" cy="0"/>
          </a:xfrm>
          <a:prstGeom prst="line">
            <a:avLst/>
          </a:prstGeom>
          <a:ln w="22860">
            <a:solidFill>
              <a:srgbClr val="B8771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558800" y="7073900"/>
            <a:ext cx="13512800" cy="533400"/>
          </a:xfrm>
          <a:prstGeom prst="rect">
            <a:avLst/>
          </a:prstGeom>
          <a:solidFill>
            <a:srgbClr val="F9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58800" y="7073900"/>
            <a:ext cx="50800" cy="533400"/>
          </a:xfrm>
          <a:prstGeom prst="rect">
            <a:avLst/>
          </a:prstGeom>
          <a:solidFill>
            <a:srgbClr val="B87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2000" y="7162800"/>
            <a:ext cx="130810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324D"/>
                </a:solidFill>
                <a:latin typeface="Noto Sans CJK SC"/>
              </a:rPr>
              <a:t>省去重复 parent prefill；capture / load 仍有成本。显式 KV 模式不与 APC 同时开启。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6200"/>
          </a:xfrm>
          <a:prstGeom prst="rect">
            <a:avLst/>
          </a:prstGeom>
          <a:solidFill>
            <a:srgbClr val="24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800" y="304800"/>
            <a:ext cx="11430000" cy="2524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456D6"/>
                </a:solidFill>
                <a:latin typeface="Noto Sans CJK SC"/>
              </a:rPr>
              <a:t>亮点  / 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800" y="685800"/>
            <a:ext cx="13512800" cy="54101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4259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24D"/>
                </a:solidFill>
                <a:latin typeface="Noto Sans CJK SC"/>
              </a:rPr>
              <a:t>复用 F01 的方法，重新计算 F02 的 2 月数据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800" y="1295400"/>
            <a:ext cx="135128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1748C"/>
                </a:solidFill>
                <a:latin typeface="Noto Sans CJK SC"/>
              </a:rPr>
              <a:t>历史记录提供 recipe；当前数据和新结果仍在本轮读取、执行和验证。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58800" y="1778000"/>
            <a:ext cx="13512800" cy="0"/>
          </a:xfrm>
          <a:prstGeom prst="line">
            <a:avLst/>
          </a:prstGeom>
          <a:ln w="12700">
            <a:solidFill>
              <a:srgbClr val="D5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58800" y="7797800"/>
            <a:ext cx="3175000" cy="1803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48C"/>
                </a:solidFill>
                <a:latin typeface="Noto Sans CJK SC"/>
              </a:rPr>
              <a:t>STATEBUS  /  答辩内容页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0" y="7797800"/>
            <a:ext cx="8890000" cy="1803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48C"/>
                </a:solidFill>
                <a:latin typeface="Noto Sans CJK SC"/>
              </a:rPr>
              <a:t>memory_reuse.md · mechanisms/results.json（F02 on）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87400" y="7772400"/>
            <a:ext cx="584200" cy="19837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48C"/>
                </a:solidFill>
                <a:latin typeface="Noto Sans CJK SC"/>
              </a:rPr>
              <a:t>09/18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8800" y="2247900"/>
            <a:ext cx="3403600" cy="1422400"/>
          </a:xfrm>
          <a:prstGeom prst="roundRect">
            <a:avLst>
              <a:gd name="adj" fmla="val 4464"/>
            </a:avLst>
          </a:prstGeom>
          <a:solidFill>
            <a:srgbClr val="F1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8800" y="2247900"/>
            <a:ext cx="38100" cy="1422400"/>
          </a:xfrm>
          <a:prstGeom prst="rect">
            <a:avLst/>
          </a:prstGeom>
          <a:solidFill>
            <a:srgbClr val="663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600" y="2400300"/>
            <a:ext cx="3048000" cy="3967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12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6638F0"/>
                </a:solidFill>
                <a:latin typeface="Noto Sans CJK SC"/>
              </a:rPr>
              <a:t>上轮 F01 / 1 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600" y="2873248"/>
            <a:ext cx="3048000" cy="2885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24D"/>
                </a:solidFill>
                <a:latin typeface="Noto Sans CJK SC"/>
              </a:rPr>
              <a:t>已验证结果 + 来源 + recipe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800" y="4470400"/>
            <a:ext cx="3403600" cy="1422400"/>
          </a:xfrm>
          <a:prstGeom prst="roundRect">
            <a:avLst>
              <a:gd name="adj" fmla="val 4464"/>
            </a:avLst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8800" y="4470400"/>
            <a:ext cx="38100" cy="1422400"/>
          </a:xfrm>
          <a:prstGeom prst="rect">
            <a:avLst/>
          </a:prstGeom>
          <a:solidFill>
            <a:srgbClr val="24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600" y="4622800"/>
            <a:ext cx="3048000" cy="3967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12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456D6"/>
                </a:solidFill>
                <a:latin typeface="Noto Sans CJK SC"/>
              </a:rPr>
              <a:t>本轮 F02 / 2 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600" y="5095748"/>
            <a:ext cx="3048000" cy="64922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</a:rPr>
              <a:t>查询：同类月度核算</a:t>
            </a:r>
          </a:p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</a:rPr>
              <a:t>输入：本月 CSV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78400" y="2247900"/>
            <a:ext cx="3581400" cy="1422400"/>
          </a:xfrm>
          <a:prstGeom prst="roundRect">
            <a:avLst>
              <a:gd name="adj" fmla="val 4464"/>
            </a:avLst>
          </a:prstGeom>
          <a:solidFill>
            <a:srgbClr val="F1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78400" y="2247900"/>
            <a:ext cx="38100" cy="1422400"/>
          </a:xfrm>
          <a:prstGeom prst="rect">
            <a:avLst/>
          </a:prstGeom>
          <a:solidFill>
            <a:srgbClr val="663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56200" y="2400300"/>
            <a:ext cx="3225800" cy="3967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12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6638F0"/>
                </a:solidFill>
                <a:latin typeface="Noto Sans CJK SC"/>
              </a:rPr>
              <a:t>Memory Store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56200" y="2873248"/>
            <a:ext cx="3225800" cy="5770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24D"/>
                </a:solidFill>
                <a:latin typeface="Noto Sans CJK SC"/>
              </a:rPr>
              <a:t>关键词 / 标签 / 语义检索</a:t>
            </a:r>
          </a:p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24D"/>
                </a:solidFill>
                <a:latin typeface="Noto Sans CJK SC"/>
              </a:rPr>
              <a:t>合并候选后再检查适用性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962400" y="2946400"/>
            <a:ext cx="1016000" cy="0"/>
          </a:xfrm>
          <a:prstGeom prst="line">
            <a:avLst/>
          </a:prstGeom>
          <a:ln w="22860">
            <a:solidFill>
              <a:srgbClr val="6638F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962400" y="4940300"/>
            <a:ext cx="533400" cy="0"/>
          </a:xfrm>
          <a:prstGeom prst="line">
            <a:avLst/>
          </a:prstGeom>
          <a:ln w="22860">
            <a:solidFill>
              <a:srgbClr val="245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4495800" y="3352800"/>
            <a:ext cx="0" cy="1587500"/>
          </a:xfrm>
          <a:prstGeom prst="line">
            <a:avLst/>
          </a:prstGeom>
          <a:ln w="22860">
            <a:solidFill>
              <a:srgbClr val="245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495800" y="3352800"/>
            <a:ext cx="482600" cy="0"/>
          </a:xfrm>
          <a:prstGeom prst="line">
            <a:avLst/>
          </a:prstGeom>
          <a:ln w="22860">
            <a:solidFill>
              <a:srgbClr val="2456D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978400" y="4470400"/>
            <a:ext cx="3581400" cy="1422400"/>
          </a:xfrm>
          <a:prstGeom prst="roundRect">
            <a:avLst>
              <a:gd name="adj" fmla="val 4464"/>
            </a:avLst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78400" y="4470400"/>
            <a:ext cx="38100" cy="1422400"/>
          </a:xfrm>
          <a:prstGeom prst="rect">
            <a:avLst/>
          </a:prstGeom>
          <a:solidFill>
            <a:srgbClr val="24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56200" y="4622800"/>
            <a:ext cx="3225800" cy="3967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12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456D6"/>
                </a:solidFill>
                <a:latin typeface="Noto Sans CJK SC"/>
              </a:rPr>
              <a:t>兼容性判断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56200" y="5095748"/>
            <a:ext cx="3225800" cy="6131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41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24D"/>
                </a:solidFill>
                <a:latin typeface="Noto Sans CJK SC"/>
              </a:rPr>
              <a:t>历史 recipe 要求</a:t>
            </a:r>
          </a:p>
          <a:p>
            <a:pPr algn="l">
              <a:lnSpc>
                <a:spcPts val="241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24D"/>
                </a:solidFill>
                <a:latin typeface="Noto Sans CJK SC"/>
              </a:rPr>
              <a:t>对照本轮输入与输出合同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769100" y="3670300"/>
            <a:ext cx="0" cy="800100"/>
          </a:xfrm>
          <a:prstGeom prst="line">
            <a:avLst/>
          </a:prstGeom>
          <a:ln w="22860">
            <a:solidFill>
              <a:srgbClr val="6638F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962400" y="5461000"/>
            <a:ext cx="1016000" cy="0"/>
          </a:xfrm>
          <a:prstGeom prst="line">
            <a:avLst/>
          </a:prstGeom>
          <a:ln w="22860">
            <a:solidFill>
              <a:srgbClr val="2456D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071100" y="2247900"/>
            <a:ext cx="4000500" cy="1422400"/>
          </a:xfrm>
          <a:prstGeom prst="roundRect">
            <a:avLst>
              <a:gd name="adj" fmla="val 4464"/>
            </a:avLst>
          </a:prstGeom>
          <a:solidFill>
            <a:srgbClr val="E9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71100" y="2247900"/>
            <a:ext cx="38100" cy="1422400"/>
          </a:xfrm>
          <a:prstGeom prst="rect">
            <a:avLst/>
          </a:prstGeom>
          <a:solidFill>
            <a:srgbClr val="138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48900" y="2400300"/>
            <a:ext cx="3644900" cy="3967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12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38E84"/>
                </a:solidFill>
                <a:latin typeface="Noto Sans CJK SC"/>
              </a:rPr>
              <a:t>Executor 重算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8900" y="2873248"/>
            <a:ext cx="3644900" cy="64922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</a:rPr>
              <a:t>获准 recipe + 本轮数据</a:t>
            </a:r>
          </a:p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</a:rPr>
              <a:t>执行 → 校验 → 新 Artifact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559800" y="4991100"/>
            <a:ext cx="787400" cy="0"/>
          </a:xfrm>
          <a:prstGeom prst="line">
            <a:avLst/>
          </a:prstGeom>
          <a:ln w="22860">
            <a:solidFill>
              <a:srgbClr val="663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9347200" y="2946400"/>
            <a:ext cx="0" cy="2044700"/>
          </a:xfrm>
          <a:prstGeom prst="line">
            <a:avLst/>
          </a:prstGeom>
          <a:ln w="22860">
            <a:solidFill>
              <a:srgbClr val="663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347200" y="2946400"/>
            <a:ext cx="723900" cy="0"/>
          </a:xfrm>
          <a:prstGeom prst="line">
            <a:avLst/>
          </a:prstGeom>
          <a:ln w="22860">
            <a:solidFill>
              <a:srgbClr val="6638F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724900" y="4318000"/>
            <a:ext cx="1155700" cy="2885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638F0"/>
                </a:solidFill>
                <a:latin typeface="Noto Sans CJK SC"/>
              </a:rPr>
              <a:t>通过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11950700" y="1993900"/>
            <a:ext cx="0" cy="254000"/>
          </a:xfrm>
          <a:prstGeom prst="line">
            <a:avLst/>
          </a:prstGeom>
          <a:ln w="22860">
            <a:solidFill>
              <a:srgbClr val="663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6781800" y="1993900"/>
            <a:ext cx="5168900" cy="0"/>
          </a:xfrm>
          <a:prstGeom prst="line">
            <a:avLst/>
          </a:prstGeom>
          <a:ln w="22860">
            <a:solidFill>
              <a:srgbClr val="663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781800" y="1993900"/>
            <a:ext cx="0" cy="254000"/>
          </a:xfrm>
          <a:prstGeom prst="line">
            <a:avLst/>
          </a:prstGeom>
          <a:ln w="22860">
            <a:solidFill>
              <a:srgbClr val="6638F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737600" y="2247900"/>
            <a:ext cx="1308100" cy="2524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638F0"/>
                </a:solidFill>
                <a:latin typeface="Noto Sans CJK SC"/>
              </a:rPr>
              <a:t>验证后写回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71100" y="4457700"/>
            <a:ext cx="4000500" cy="3606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84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7324D"/>
                </a:solidFill>
                <a:latin typeface="Noto Sans CJK SC"/>
              </a:rPr>
              <a:t>其他候选的去向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71100" y="5054600"/>
            <a:ext cx="4000500" cy="5770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1748C"/>
                </a:solidFill>
                <a:latin typeface="Noto Sans CJK SC"/>
              </a:rPr>
              <a:t>仅供参考 → ASSIST</a:t>
            </a:r>
          </a:p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1748C"/>
                </a:solidFill>
                <a:latin typeface="Noto Sans CJK SC"/>
              </a:rPr>
              <a:t>不兼容 → REJECT，按原任务执行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8800" y="7073900"/>
            <a:ext cx="13512800" cy="533400"/>
          </a:xfrm>
          <a:prstGeom prst="rect">
            <a:avLst/>
          </a:prstGeom>
          <a:solidFill>
            <a:srgbClr val="F1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58800" y="7073900"/>
            <a:ext cx="50800" cy="533400"/>
          </a:xfrm>
          <a:prstGeom prst="rect">
            <a:avLst/>
          </a:prstGeom>
          <a:solidFill>
            <a:srgbClr val="663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2000" y="7162800"/>
            <a:ext cx="130810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324D"/>
                </a:solidFill>
                <a:latin typeface="Noto Sans CJK SC"/>
              </a:rPr>
              <a:t>F02 实测：复用来源为 F01；本轮输入执行已记录；Executor 模型请求从 1 次降为 0 次。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6200"/>
          </a:xfrm>
          <a:prstGeom prst="rect">
            <a:avLst/>
          </a:prstGeom>
          <a:solidFill>
            <a:srgbClr val="24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800" y="304800"/>
            <a:ext cx="11430000" cy="2524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456D6"/>
                </a:solidFill>
                <a:latin typeface="Noto Sans CJK SC"/>
              </a:rPr>
              <a:t>亮点  /  执行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800" y="685800"/>
            <a:ext cx="13512800" cy="54101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4259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24D"/>
                </a:solidFill>
                <a:latin typeface="Noto Sans CJK SC"/>
              </a:rPr>
              <a:t>DSL 与 CodeAct 两条路径，交付同一类结果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800" y="1295400"/>
            <a:ext cx="135128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1748C"/>
                </a:solidFill>
                <a:latin typeface="Noto Sans CJK SC"/>
              </a:rPr>
              <a:t>已定义变换走 DSL；超出表达范围时，受限 Python 完成计算并接受输出检查。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58800" y="1778000"/>
            <a:ext cx="13512800" cy="0"/>
          </a:xfrm>
          <a:prstGeom prst="line">
            <a:avLst/>
          </a:prstGeom>
          <a:ln w="12700">
            <a:solidFill>
              <a:srgbClr val="D5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58800" y="7797800"/>
            <a:ext cx="3175000" cy="1803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48C"/>
                </a:solidFill>
                <a:latin typeface="Noto Sans CJK SC"/>
              </a:rPr>
              <a:t>STATEBUS  /  答辩内容页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0" y="7797800"/>
            <a:ext cx="8890000" cy="1803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48C"/>
                </a:solidFill>
                <a:latin typeface="Noto Sans CJK SC"/>
              </a:rPr>
              <a:t>codeact_execution.md · experiments_overview.md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87400" y="7772400"/>
            <a:ext cx="584200" cy="19837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48C"/>
                </a:solidFill>
                <a:latin typeface="Noto Sans CJK SC"/>
              </a:rPr>
              <a:t>10/18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8800" y="3530600"/>
            <a:ext cx="2692400" cy="1651000"/>
          </a:xfrm>
          <a:prstGeom prst="roundRect">
            <a:avLst>
              <a:gd name="adj" fmla="val 3846"/>
            </a:avLst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8800" y="3530600"/>
            <a:ext cx="38100" cy="1651000"/>
          </a:xfrm>
          <a:prstGeom prst="rect">
            <a:avLst/>
          </a:prstGeom>
          <a:solidFill>
            <a:srgbClr val="24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600" y="3683000"/>
            <a:ext cx="2336800" cy="43281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408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456D6"/>
                </a:solidFill>
                <a:latin typeface="Noto Sans CJK SC"/>
              </a:rPr>
              <a:t>任务步骤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600" y="4192016"/>
            <a:ext cx="2336800" cy="64922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</a:rPr>
              <a:t>本月数据</a:t>
            </a:r>
          </a:p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</a:rPr>
              <a:t>要求：利润汇总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38600" y="3517900"/>
            <a:ext cx="2362200" cy="1676400"/>
          </a:xfrm>
          <a:prstGeom prst="roundRect">
            <a:avLst>
              <a:gd name="adj" fmla="val 3787"/>
            </a:avLst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38600" y="3517900"/>
            <a:ext cx="38100" cy="1676400"/>
          </a:xfrm>
          <a:prstGeom prst="rect">
            <a:avLst/>
          </a:prstGeom>
          <a:solidFill>
            <a:srgbClr val="24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16400" y="3670300"/>
            <a:ext cx="2006600" cy="37871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98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456D6"/>
                </a:solidFill>
                <a:latin typeface="Noto Sans CJK SC"/>
              </a:rPr>
              <a:t>能否用 DSL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16400" y="4125214"/>
            <a:ext cx="2006600" cy="27050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324D"/>
                </a:solidFill>
                <a:latin typeface="Noto Sans CJK SC"/>
              </a:rPr>
              <a:t>按能力目录判断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251200" y="4330700"/>
            <a:ext cx="787400" cy="0"/>
          </a:xfrm>
          <a:prstGeom prst="line">
            <a:avLst/>
          </a:prstGeom>
          <a:ln w="22860">
            <a:solidFill>
              <a:srgbClr val="2456D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391400" y="2311400"/>
            <a:ext cx="3009900" cy="1498600"/>
          </a:xfrm>
          <a:prstGeom prst="roundRect">
            <a:avLst>
              <a:gd name="adj" fmla="val 4237"/>
            </a:avLst>
          </a:prstGeom>
          <a:solidFill>
            <a:srgbClr val="E9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91400" y="2311400"/>
            <a:ext cx="38100" cy="1498600"/>
          </a:xfrm>
          <a:prstGeom prst="rect">
            <a:avLst/>
          </a:prstGeom>
          <a:solidFill>
            <a:srgbClr val="138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69200" y="2463800"/>
            <a:ext cx="2654300" cy="43281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408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38E84"/>
                </a:solidFill>
                <a:latin typeface="Noto Sans CJK SC"/>
              </a:rPr>
              <a:t>DSL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69200" y="2972816"/>
            <a:ext cx="2654300" cy="64922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</a:rPr>
              <a:t>已登记操作</a:t>
            </a:r>
          </a:p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</a:rPr>
              <a:t>执行 → 输出校验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91400" y="4800600"/>
            <a:ext cx="3009900" cy="1752600"/>
          </a:xfrm>
          <a:prstGeom prst="roundRect">
            <a:avLst>
              <a:gd name="adj" fmla="val 3623"/>
            </a:avLst>
          </a:prstGeom>
          <a:solidFill>
            <a:srgbClr val="F9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91400" y="4800600"/>
            <a:ext cx="38100" cy="1752600"/>
          </a:xfrm>
          <a:prstGeom prst="rect">
            <a:avLst/>
          </a:prstGeom>
          <a:solidFill>
            <a:srgbClr val="B87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69200" y="4953000"/>
            <a:ext cx="2654300" cy="43281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408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B87717"/>
                </a:solidFill>
                <a:latin typeface="Noto Sans CJK SC"/>
              </a:rPr>
              <a:t>CodeAct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69200" y="5462016"/>
            <a:ext cx="2654300" cy="81153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324D"/>
                </a:solidFill>
                <a:latin typeface="Noto Sans CJK SC"/>
              </a:rPr>
              <a:t>生成代码 → 编译检查</a:t>
            </a:r>
          </a:p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324D"/>
                </a:solidFill>
                <a:latin typeface="Noto Sans CJK SC"/>
              </a:rPr>
              <a:t>访问范围检查 → 受控执行</a:t>
            </a:r>
          </a:p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324D"/>
                </a:solidFill>
                <a:latin typeface="Noto Sans CJK SC"/>
              </a:rPr>
              <a:t>最后校验输出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00800" y="3911600"/>
            <a:ext cx="482600" cy="0"/>
          </a:xfrm>
          <a:prstGeom prst="line">
            <a:avLst/>
          </a:prstGeom>
          <a:ln w="22860">
            <a:solidFill>
              <a:srgbClr val="138E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6883400" y="3048000"/>
            <a:ext cx="0" cy="863600"/>
          </a:xfrm>
          <a:prstGeom prst="line">
            <a:avLst/>
          </a:prstGeom>
          <a:ln w="22860">
            <a:solidFill>
              <a:srgbClr val="138E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883400" y="3048000"/>
            <a:ext cx="508000" cy="0"/>
          </a:xfrm>
          <a:prstGeom prst="line">
            <a:avLst/>
          </a:prstGeom>
          <a:ln w="22860">
            <a:solidFill>
              <a:srgbClr val="138E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680200" y="3352800"/>
            <a:ext cx="571500" cy="27050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38E84"/>
                </a:solidFill>
                <a:latin typeface="Noto Sans CJK SC"/>
              </a:rPr>
              <a:t>是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00800" y="4699000"/>
            <a:ext cx="482600" cy="0"/>
          </a:xfrm>
          <a:prstGeom prst="line">
            <a:avLst/>
          </a:prstGeom>
          <a:ln w="22860">
            <a:solidFill>
              <a:srgbClr val="B87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883400" y="4699000"/>
            <a:ext cx="0" cy="1003300"/>
          </a:xfrm>
          <a:prstGeom prst="line">
            <a:avLst/>
          </a:prstGeom>
          <a:ln w="22860">
            <a:solidFill>
              <a:srgbClr val="B87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883400" y="5702300"/>
            <a:ext cx="508000" cy="0"/>
          </a:xfrm>
          <a:prstGeom prst="line">
            <a:avLst/>
          </a:prstGeom>
          <a:ln w="22860">
            <a:solidFill>
              <a:srgbClr val="B8771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680200" y="5054600"/>
            <a:ext cx="571500" cy="27050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87717"/>
                </a:solidFill>
                <a:latin typeface="Noto Sans CJK SC"/>
              </a:rPr>
              <a:t>否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290300" y="3149600"/>
            <a:ext cx="2781300" cy="2730500"/>
          </a:xfrm>
          <a:prstGeom prst="roundRect">
            <a:avLst>
              <a:gd name="adj" fmla="val 2325"/>
            </a:avLst>
          </a:prstGeom>
          <a:solidFill>
            <a:srgbClr val="E9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290300" y="3149600"/>
            <a:ext cx="38100" cy="2730500"/>
          </a:xfrm>
          <a:prstGeom prst="rect">
            <a:avLst/>
          </a:prstGeom>
          <a:solidFill>
            <a:srgbClr val="138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68100" y="3302000"/>
            <a:ext cx="2425700" cy="43281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408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38E84"/>
                </a:solidFill>
                <a:latin typeface="Noto Sans CJK SC"/>
              </a:rPr>
              <a:t>Artifact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68100" y="3811016"/>
            <a:ext cx="2425700" cy="11541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24D"/>
                </a:solidFill>
                <a:latin typeface="Noto Sans CJK SC"/>
              </a:rPr>
              <a:t>period</a:t>
            </a:r>
          </a:p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24D"/>
                </a:solidFill>
                <a:latin typeface="Noto Sans CJK SC"/>
              </a:rPr>
              <a:t>unit_id</a:t>
            </a:r>
          </a:p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24D"/>
                </a:solidFill>
                <a:latin typeface="Noto Sans CJK SC"/>
              </a:rPr>
              <a:t>revenue_cny</a:t>
            </a:r>
          </a:p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24D"/>
                </a:solidFill>
                <a:latin typeface="Noto Sans CJK SC"/>
              </a:rPr>
              <a:t>cost_cny / profit_cny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401300" y="3048000"/>
            <a:ext cx="482600" cy="0"/>
          </a:xfrm>
          <a:prstGeom prst="line">
            <a:avLst/>
          </a:prstGeom>
          <a:ln w="22860">
            <a:solidFill>
              <a:srgbClr val="138E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0883900" y="3048000"/>
            <a:ext cx="0" cy="622300"/>
          </a:xfrm>
          <a:prstGeom prst="line">
            <a:avLst/>
          </a:prstGeom>
          <a:ln w="22860">
            <a:solidFill>
              <a:srgbClr val="138E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0883900" y="3670300"/>
            <a:ext cx="406400" cy="0"/>
          </a:xfrm>
          <a:prstGeom prst="line">
            <a:avLst/>
          </a:prstGeom>
          <a:ln w="22860">
            <a:solidFill>
              <a:srgbClr val="138E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0401300" y="5702300"/>
            <a:ext cx="482600" cy="0"/>
          </a:xfrm>
          <a:prstGeom prst="line">
            <a:avLst/>
          </a:prstGeom>
          <a:ln w="22860">
            <a:solidFill>
              <a:srgbClr val="B87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0883900" y="5359400"/>
            <a:ext cx="0" cy="342900"/>
          </a:xfrm>
          <a:prstGeom prst="line">
            <a:avLst/>
          </a:prstGeom>
          <a:ln w="22860">
            <a:solidFill>
              <a:srgbClr val="B87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883900" y="5359400"/>
            <a:ext cx="406400" cy="0"/>
          </a:xfrm>
          <a:prstGeom prst="line">
            <a:avLst/>
          </a:prstGeom>
          <a:ln w="22860">
            <a:solidFill>
              <a:srgbClr val="B8771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558800" y="7073900"/>
            <a:ext cx="13512800" cy="533400"/>
          </a:xfrm>
          <a:prstGeom prst="rect">
            <a:avLst/>
          </a:prstGeom>
          <a:solidFill>
            <a:srgbClr val="E9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58800" y="7073900"/>
            <a:ext cx="50800" cy="533400"/>
          </a:xfrm>
          <a:prstGeom prst="rect">
            <a:avLst/>
          </a:prstGeom>
          <a:solidFill>
            <a:srgbClr val="138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2000" y="7162800"/>
            <a:ext cx="130810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324D"/>
                </a:solidFill>
                <a:latin typeface="Noto Sans CJK SC"/>
              </a:rPr>
              <a:t>下游读取结构化产物和来源；执行方式改变，要求的字段、类型和质量门不变。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6200"/>
          </a:xfrm>
          <a:prstGeom prst="rect">
            <a:avLst/>
          </a:prstGeom>
          <a:solidFill>
            <a:srgbClr val="24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800" y="304800"/>
            <a:ext cx="11430000" cy="2524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456D6"/>
                </a:solidFill>
                <a:latin typeface="Noto Sans CJK SC"/>
              </a:rPr>
              <a:t>亮点  /  APC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800" y="685800"/>
            <a:ext cx="13512800" cy="54101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4259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24D"/>
                </a:solidFill>
                <a:latin typeface="Noto Sans CJK SC"/>
              </a:rPr>
              <a:t>StateBus 对齐公共前缀，vLLM 决定实际命中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800" y="1295400"/>
            <a:ext cx="135128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1748C"/>
                </a:solidFill>
                <a:latin typeface="Noto Sans CJK SC"/>
              </a:rPr>
              <a:t>相同资料要变成相同 token 前缀；命中反馈用于调整尚未执行的 ready task。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58800" y="1778000"/>
            <a:ext cx="13512800" cy="0"/>
          </a:xfrm>
          <a:prstGeom prst="line">
            <a:avLst/>
          </a:prstGeom>
          <a:ln w="12700">
            <a:solidFill>
              <a:srgbClr val="D5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58800" y="7797800"/>
            <a:ext cx="3175000" cy="1803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48C"/>
                </a:solidFill>
                <a:latin typeface="Noto Sans CJK SC"/>
              </a:rPr>
              <a:t>STATEBUS  /  答辩内容页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0" y="7797800"/>
            <a:ext cx="8890000" cy="1803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48C"/>
                </a:solidFill>
                <a:latin typeface="Noto Sans CJK SC"/>
              </a:rPr>
              <a:t>apc_state.md（调度示意）· model-assist/summary.md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87400" y="7772400"/>
            <a:ext cx="584200" cy="19837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48C"/>
                </a:solidFill>
                <a:latin typeface="Noto Sans CJK SC"/>
              </a:rPr>
              <a:t>11/18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8800" y="2247900"/>
            <a:ext cx="4102100" cy="1473200"/>
          </a:xfrm>
          <a:prstGeom prst="roundRect">
            <a:avLst>
              <a:gd name="adj" fmla="val 4310"/>
            </a:avLst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8800" y="2247900"/>
            <a:ext cx="38100" cy="1473200"/>
          </a:xfrm>
          <a:prstGeom prst="rect">
            <a:avLst/>
          </a:prstGeom>
          <a:solidFill>
            <a:srgbClr val="24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600" y="2400300"/>
            <a:ext cx="3746500" cy="3967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12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456D6"/>
                </a:solidFill>
                <a:latin typeface="Noto Sans CJK SC"/>
              </a:rPr>
              <a:t>Ready queue（示意）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600" y="2873248"/>
            <a:ext cx="3746500" cy="68529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697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24D"/>
                </a:solidFill>
                <a:latin typeface="Noto Sans CJK SC"/>
              </a:rPr>
              <a:t>原顺序：A1 → B1 → A2</a:t>
            </a:r>
          </a:p>
          <a:p>
            <a:pPr algn="l">
              <a:lnSpc>
                <a:spcPts val="2697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24D"/>
                </a:solidFill>
                <a:latin typeface="Noto Sans CJK SC"/>
              </a:rPr>
              <a:t>候选调整：A1 → A2 → B1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9000" y="4051300"/>
            <a:ext cx="3771900" cy="5770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1748C"/>
                </a:solidFill>
                <a:latin typeface="Noto Sans CJK SC"/>
              </a:rPr>
              <a:t>只选择依赖已满足的任务</a:t>
            </a:r>
          </a:p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1748C"/>
                </a:solidFill>
                <a:latin typeface="Noto Sans CJK SC"/>
              </a:rPr>
              <a:t>同组相邻有利于保留命中机会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49900" y="2247900"/>
            <a:ext cx="4064000" cy="2209800"/>
          </a:xfrm>
          <a:prstGeom prst="roundRect">
            <a:avLst>
              <a:gd name="adj" fmla="val 2873"/>
            </a:avLst>
          </a:prstGeom>
          <a:solidFill>
            <a:srgbClr val="F9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549900" y="2247900"/>
            <a:ext cx="38100" cy="2209800"/>
          </a:xfrm>
          <a:prstGeom prst="rect">
            <a:avLst/>
          </a:prstGeom>
          <a:solidFill>
            <a:srgbClr val="B87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27700" y="2400300"/>
            <a:ext cx="3708400" cy="3967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12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87717"/>
                </a:solidFill>
                <a:latin typeface="Noto Sans CJK SC"/>
              </a:rPr>
              <a:t>请求前缀对齐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27700" y="2873248"/>
            <a:ext cx="3708400" cy="5770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24D"/>
                </a:solidFill>
                <a:latin typeface="Noto Sans CJK SC"/>
              </a:rPr>
              <a:t>共同 evidence 固定顺序渲染</a:t>
            </a:r>
          </a:p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24D"/>
                </a:solidFill>
                <a:latin typeface="Noto Sans CJK SC"/>
              </a:rPr>
              <a:t>使用实际 tokenizer 检查前缀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27700" y="3632200"/>
            <a:ext cx="2603500" cy="317500"/>
          </a:xfrm>
          <a:prstGeom prst="rect">
            <a:avLst/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27700" y="3657600"/>
            <a:ext cx="2603500" cy="2524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456D6"/>
                </a:solidFill>
                <a:latin typeface="Noto Sans CJK SC"/>
              </a:rPr>
              <a:t>相同 token prefix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82000" y="3632200"/>
            <a:ext cx="10160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20100" y="3657600"/>
            <a:ext cx="939800" cy="2524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87717"/>
                </a:solidFill>
                <a:latin typeface="Noto Sans CJK SC"/>
              </a:rPr>
              <a:t>A1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27700" y="4051300"/>
            <a:ext cx="2603500" cy="317500"/>
          </a:xfrm>
          <a:prstGeom prst="rect">
            <a:avLst/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27700" y="4076700"/>
            <a:ext cx="2603500" cy="2524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456D6"/>
                </a:solidFill>
                <a:latin typeface="Noto Sans CJK SC"/>
              </a:rPr>
              <a:t>相同 token prefix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82000" y="4051300"/>
            <a:ext cx="10160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20100" y="4076700"/>
            <a:ext cx="939800" cy="2524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87717"/>
                </a:solidFill>
                <a:latin typeface="Noto Sans CJK SC"/>
              </a:rPr>
              <a:t>A2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502900" y="2247900"/>
            <a:ext cx="3568700" cy="2209800"/>
          </a:xfrm>
          <a:prstGeom prst="roundRect">
            <a:avLst>
              <a:gd name="adj" fmla="val 2873"/>
            </a:avLst>
          </a:prstGeom>
          <a:solidFill>
            <a:srgbClr val="F9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502900" y="2247900"/>
            <a:ext cx="38100" cy="2209800"/>
          </a:xfrm>
          <a:prstGeom prst="rect">
            <a:avLst/>
          </a:prstGeom>
          <a:solidFill>
            <a:srgbClr val="B87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80700" y="2400300"/>
            <a:ext cx="3213100" cy="41478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265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B87717"/>
                </a:solidFill>
                <a:latin typeface="Noto Sans CJK SC"/>
              </a:rPr>
              <a:t>vLLM engine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80700" y="2891282"/>
            <a:ext cx="3213100" cy="91973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41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24D"/>
                </a:solidFill>
                <a:latin typeface="Noto Sans CJK SC"/>
              </a:rPr>
              <a:t>APC blocks</a:t>
            </a:r>
          </a:p>
          <a:p>
            <a:pPr algn="l">
              <a:lnSpc>
                <a:spcPts val="241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24D"/>
                </a:solidFill>
                <a:latin typeface="Noto Sans CJK SC"/>
              </a:rPr>
              <a:t>引擎负责缓存和淘汰</a:t>
            </a:r>
          </a:p>
          <a:p>
            <a:pPr algn="l">
              <a:lnSpc>
                <a:spcPts val="241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24D"/>
                </a:solidFill>
                <a:latin typeface="Noto Sans CJK SC"/>
              </a:rPr>
              <a:t>输出：query / hit counters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660900" y="2933700"/>
            <a:ext cx="889000" cy="0"/>
          </a:xfrm>
          <a:prstGeom prst="line">
            <a:avLst/>
          </a:prstGeom>
          <a:ln w="22860">
            <a:solidFill>
              <a:srgbClr val="2456D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613900" y="2933700"/>
            <a:ext cx="889000" cy="0"/>
          </a:xfrm>
          <a:prstGeom prst="line">
            <a:avLst/>
          </a:prstGeom>
          <a:ln w="22860">
            <a:solidFill>
              <a:srgbClr val="B8771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959600" y="5372100"/>
            <a:ext cx="7112000" cy="1282700"/>
          </a:xfrm>
          <a:prstGeom prst="roundRect">
            <a:avLst>
              <a:gd name="adj" fmla="val 4950"/>
            </a:avLst>
          </a:prstGeom>
          <a:solidFill>
            <a:srgbClr val="F9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959600" y="5372100"/>
            <a:ext cx="38100" cy="1282700"/>
          </a:xfrm>
          <a:prstGeom prst="rect">
            <a:avLst/>
          </a:prstGeom>
          <a:solidFill>
            <a:srgbClr val="B87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7400" y="5524500"/>
            <a:ext cx="6756400" cy="3967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12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87717"/>
                </a:solidFill>
                <a:latin typeface="Noto Sans CJK SC"/>
              </a:rPr>
              <a:t>query / hit 增量 → 比较预测与实测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7400" y="5997448"/>
            <a:ext cx="67564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</a:rPr>
              <a:t>误差超阈值：重排待执行任务；否则保持顺序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2293600" y="4457700"/>
            <a:ext cx="0" cy="914400"/>
          </a:xfrm>
          <a:prstGeom prst="line">
            <a:avLst/>
          </a:prstGeom>
          <a:ln w="22860">
            <a:solidFill>
              <a:srgbClr val="B8771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647700" y="6019800"/>
            <a:ext cx="6311900" cy="0"/>
          </a:xfrm>
          <a:prstGeom prst="line">
            <a:avLst/>
          </a:prstGeom>
          <a:ln w="22860">
            <a:solidFill>
              <a:srgbClr val="245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647700" y="3721100"/>
            <a:ext cx="0" cy="2298700"/>
          </a:xfrm>
          <a:prstGeom prst="line">
            <a:avLst/>
          </a:prstGeom>
          <a:ln w="22860">
            <a:solidFill>
              <a:srgbClr val="2456D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27100" y="5473700"/>
            <a:ext cx="56261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456D6"/>
                </a:solidFill>
                <a:latin typeface="Noto Sans CJK SC"/>
              </a:rPr>
              <a:t>反馈回到队列；只调整未执行任务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8800" y="7073900"/>
            <a:ext cx="13512800" cy="533400"/>
          </a:xfrm>
          <a:prstGeom prst="rect">
            <a:avLst/>
          </a:prstGeom>
          <a:solidFill>
            <a:srgbClr val="F9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58800" y="7073900"/>
            <a:ext cx="50800" cy="533400"/>
          </a:xfrm>
          <a:prstGeom prst="rect">
            <a:avLst/>
          </a:prstGeom>
          <a:solidFill>
            <a:srgbClr val="B87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2000" y="7162800"/>
            <a:ext cx="130810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324D"/>
                </a:solidFill>
                <a:latin typeface="Noto Sans CJK SC"/>
              </a:rPr>
              <a:t>Runtime 改请求布局与顺序；缓存 block 留在 vLLM 内。命中增加不等于整项任务同比例加速。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6200"/>
          </a:xfrm>
          <a:prstGeom prst="rect">
            <a:avLst/>
          </a:prstGeom>
          <a:solidFill>
            <a:srgbClr val="24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800" y="304800"/>
            <a:ext cx="11430000" cy="2524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456D6"/>
                </a:solidFill>
                <a:latin typeface="Noto Sans CJK SC"/>
              </a:rPr>
              <a:t>技术难点  /  角色输入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800" y="685800"/>
            <a:ext cx="13512800" cy="54101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4259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24D"/>
                </a:solidFill>
                <a:latin typeface="Noto Sans CJK SC"/>
              </a:rPr>
              <a:t>同一份资料按角色裁剪，来源始终保留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800" y="1295400"/>
            <a:ext cx="135128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1748C"/>
                </a:solidFill>
                <a:latin typeface="Noto Sans CJK SC"/>
              </a:rPr>
              <a:t>角色视图示意 + F02 实测样例：原始输入、计算结果和引用分别展示。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58800" y="1778000"/>
            <a:ext cx="13512800" cy="0"/>
          </a:xfrm>
          <a:prstGeom prst="line">
            <a:avLst/>
          </a:prstGeom>
          <a:ln w="12700">
            <a:solidFill>
              <a:srgbClr val="D5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58800" y="7797800"/>
            <a:ext cx="3175000" cy="1803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48C"/>
                </a:solidFill>
                <a:latin typeface="Noto Sans CJK SC"/>
              </a:rPr>
              <a:t>STATEBUS  /  答辩内容页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0" y="7797800"/>
            <a:ext cx="8890000" cy="1803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48C"/>
                </a:solidFill>
                <a:latin typeface="Noto Sans CJK SC"/>
              </a:rPr>
              <a:t>challenge_projection.md · F02 rows.json / input-lineage.json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87400" y="7772400"/>
            <a:ext cx="584200" cy="19837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48C"/>
                </a:solidFill>
                <a:latin typeface="Noto Sans CJK SC"/>
              </a:rPr>
              <a:t>12/18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8800" y="3111500"/>
            <a:ext cx="3111500" cy="2108200"/>
          </a:xfrm>
          <a:prstGeom prst="roundRect">
            <a:avLst>
              <a:gd name="adj" fmla="val 3012"/>
            </a:avLst>
          </a:prstGeom>
          <a:solidFill>
            <a:srgbClr val="E9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8800" y="3111500"/>
            <a:ext cx="38100" cy="2108200"/>
          </a:xfrm>
          <a:prstGeom prst="rect">
            <a:avLst/>
          </a:prstGeom>
          <a:solidFill>
            <a:srgbClr val="138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600" y="3263900"/>
            <a:ext cx="2755900" cy="41478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265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38E84"/>
                </a:solidFill>
                <a:latin typeface="Noto Sans CJK SC"/>
              </a:rPr>
              <a:t>EvidencePack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600" y="3754881"/>
            <a:ext cx="2755900" cy="97383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</a:rPr>
              <a:t>候选资料与表格</a:t>
            </a:r>
          </a:p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</a:rPr>
              <a:t>证据 ID / locator</a:t>
            </a:r>
          </a:p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</a:rPr>
              <a:t>Runtime 按步骤裁剪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35500" y="2108200"/>
            <a:ext cx="9436100" cy="1016000"/>
          </a:xfrm>
          <a:prstGeom prst="roundRect">
            <a:avLst>
              <a:gd name="adj" fmla="val 6250"/>
            </a:avLst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35500" y="2108200"/>
            <a:ext cx="38100" cy="1016000"/>
          </a:xfrm>
          <a:prstGeom prst="rect">
            <a:avLst/>
          </a:prstGeom>
          <a:solidFill>
            <a:srgbClr val="24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13300" y="2260600"/>
            <a:ext cx="9080500" cy="37871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98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456D6"/>
                </a:solidFill>
                <a:latin typeface="Noto Sans CJK SC"/>
              </a:rPr>
              <a:t>Retriever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13300" y="2715514"/>
            <a:ext cx="90805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</a:rPr>
              <a:t>检索范围 / 查询线索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70300" y="4140200"/>
            <a:ext cx="457200" cy="0"/>
          </a:xfrm>
          <a:prstGeom prst="line">
            <a:avLst/>
          </a:prstGeom>
          <a:ln w="22860">
            <a:solidFill>
              <a:srgbClr val="138E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4127500" y="2616200"/>
            <a:ext cx="0" cy="1524000"/>
          </a:xfrm>
          <a:prstGeom prst="line">
            <a:avLst/>
          </a:prstGeom>
          <a:ln w="22860">
            <a:solidFill>
              <a:srgbClr val="138E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127500" y="2616200"/>
            <a:ext cx="508000" cy="0"/>
          </a:xfrm>
          <a:prstGeom prst="line">
            <a:avLst/>
          </a:prstGeom>
          <a:ln w="22860">
            <a:solidFill>
              <a:srgbClr val="138E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635500" y="3302000"/>
            <a:ext cx="9436100" cy="1016000"/>
          </a:xfrm>
          <a:prstGeom prst="roundRect">
            <a:avLst>
              <a:gd name="adj" fmla="val 6250"/>
            </a:avLst>
          </a:prstGeom>
          <a:solidFill>
            <a:srgbClr val="E9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35500" y="3302000"/>
            <a:ext cx="38100" cy="1016000"/>
          </a:xfrm>
          <a:prstGeom prst="rect">
            <a:avLst/>
          </a:prstGeom>
          <a:solidFill>
            <a:srgbClr val="138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13300" y="3454400"/>
            <a:ext cx="9080500" cy="37871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98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38E84"/>
                </a:solidFill>
                <a:latin typeface="Noto Sans CJK SC"/>
              </a:rPr>
              <a:t>Executor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13300" y="3909314"/>
            <a:ext cx="90805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</a:rPr>
              <a:t>当前 CSV → DSL → 新 Artifact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670300" y="4140200"/>
            <a:ext cx="457200" cy="0"/>
          </a:xfrm>
          <a:prstGeom prst="line">
            <a:avLst/>
          </a:prstGeom>
          <a:ln w="22860">
            <a:solidFill>
              <a:srgbClr val="138E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4127500" y="3810000"/>
            <a:ext cx="0" cy="330200"/>
          </a:xfrm>
          <a:prstGeom prst="line">
            <a:avLst/>
          </a:prstGeom>
          <a:ln w="22860">
            <a:solidFill>
              <a:srgbClr val="138E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127500" y="3810000"/>
            <a:ext cx="508000" cy="0"/>
          </a:xfrm>
          <a:prstGeom prst="line">
            <a:avLst/>
          </a:prstGeom>
          <a:ln w="22860">
            <a:solidFill>
              <a:srgbClr val="138E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635500" y="4495800"/>
            <a:ext cx="9436100" cy="1016000"/>
          </a:xfrm>
          <a:prstGeom prst="roundRect">
            <a:avLst>
              <a:gd name="adj" fmla="val 6250"/>
            </a:avLst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635500" y="4495800"/>
            <a:ext cx="38100" cy="1016000"/>
          </a:xfrm>
          <a:prstGeom prst="rect">
            <a:avLst/>
          </a:prstGeom>
          <a:solidFill>
            <a:srgbClr val="24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13300" y="4648200"/>
            <a:ext cx="9080500" cy="37871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98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456D6"/>
                </a:solidFill>
                <a:latin typeface="Noto Sans CJK SC"/>
              </a:rPr>
              <a:t>Summarizer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13300" y="5103114"/>
            <a:ext cx="90805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</a:rPr>
              <a:t>Artifact + 来源 → 带引用的 Claim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670300" y="4140200"/>
            <a:ext cx="457200" cy="0"/>
          </a:xfrm>
          <a:prstGeom prst="line">
            <a:avLst/>
          </a:prstGeom>
          <a:ln w="22860">
            <a:solidFill>
              <a:srgbClr val="138E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127500" y="4140200"/>
            <a:ext cx="0" cy="863600"/>
          </a:xfrm>
          <a:prstGeom prst="line">
            <a:avLst/>
          </a:prstGeom>
          <a:ln w="22860">
            <a:solidFill>
              <a:srgbClr val="138E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127500" y="5003800"/>
            <a:ext cx="508000" cy="0"/>
          </a:xfrm>
          <a:prstGeom prst="line">
            <a:avLst/>
          </a:prstGeom>
          <a:ln w="22860">
            <a:solidFill>
              <a:srgbClr val="138E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800" y="5702300"/>
            <a:ext cx="13512800" cy="0"/>
          </a:xfrm>
          <a:prstGeom prst="line">
            <a:avLst/>
          </a:prstGeom>
          <a:ln w="12700">
            <a:solidFill>
              <a:srgbClr val="D5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58800" y="5854700"/>
            <a:ext cx="6324600" cy="34264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697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456D6"/>
                </a:solidFill>
                <a:latin typeface="Noto Sans CJK SC"/>
              </a:rPr>
              <a:t>F02 / U-A 原始 CSV 第 1 条记录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8800" y="6248400"/>
            <a:ext cx="6324600" cy="2885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24D"/>
                </a:solidFill>
                <a:latin typeface="Noto Sans CJK SC"/>
              </a:rPr>
              <a:t>net_revenue_cny=104,908 · cost_cny=79,730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8800" y="6616700"/>
            <a:ext cx="6324600" cy="27050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1748C"/>
                </a:solidFill>
                <a:latin typeface="Noto Sans CJK SC"/>
              </a:rPr>
              <a:t>来源：finance/actual_2026-02.csv（首条数据）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883400" y="6299200"/>
            <a:ext cx="584200" cy="0"/>
          </a:xfrm>
          <a:prstGeom prst="line">
            <a:avLst/>
          </a:prstGeom>
          <a:ln w="22860">
            <a:solidFill>
              <a:srgbClr val="138E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734300" y="5854700"/>
            <a:ext cx="6337300" cy="34264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697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38E84"/>
                </a:solidFill>
                <a:latin typeface="Noto Sans CJK SC"/>
              </a:rPr>
              <a:t>U-A 共 6 行汇总 → 新 Artifact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34300" y="6248400"/>
            <a:ext cx="6337300" cy="30657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41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38E84"/>
                </a:solidFill>
                <a:latin typeface="Noto Sans CJK SC"/>
              </a:rPr>
              <a:t>收入 625,229 − 成本 475,172 = 利润 150,057 元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34300" y="6616700"/>
            <a:ext cx="6337300" cy="27050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1748C"/>
                </a:solidFill>
                <a:latin typeface="Noto Sans CJK SC"/>
              </a:rPr>
              <a:t>period=2026-02；文件 lineage 随产物保留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8800" y="7073900"/>
            <a:ext cx="13512800" cy="533400"/>
          </a:xfrm>
          <a:prstGeom prst="rect">
            <a:avLst/>
          </a:prstGeom>
          <a:solidFill>
            <a:srgbClr val="E9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58800" y="7073900"/>
            <a:ext cx="50800" cy="533400"/>
          </a:xfrm>
          <a:prstGeom prst="rect">
            <a:avLst/>
          </a:prstGeom>
          <a:solidFill>
            <a:srgbClr val="138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2000" y="7162800"/>
            <a:ext cx="130810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324D"/>
                </a:solidFill>
                <a:latin typeface="Noto Sans CJK SC"/>
              </a:rPr>
              <a:t>输入行不是计算结果：Executor 汇总本月数据，Summarizer 读取新产物并引用来源。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6200"/>
          </a:xfrm>
          <a:prstGeom prst="rect">
            <a:avLst/>
          </a:prstGeom>
          <a:solidFill>
            <a:srgbClr val="24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800" y="304800"/>
            <a:ext cx="11430000" cy="2524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456D6"/>
                </a:solidFill>
                <a:latin typeface="Noto Sans CJK SC"/>
              </a:rPr>
              <a:t>技术难点  /  任务继续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800" y="685800"/>
            <a:ext cx="13512800" cy="54101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4259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24D"/>
                </a:solidFill>
                <a:latin typeface="Noto Sans CJK SC"/>
              </a:rPr>
              <a:t>计划变化时，保留已完成结果，只调整后续步骤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800" y="1295400"/>
            <a:ext cx="135128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1748C"/>
                </a:solidFill>
                <a:latin typeface="Noto Sans CJK SC"/>
              </a:rPr>
              <a:t>Planner 提方案；Runtime 绑定真实能力、输入输出要求和依赖，再批准执行。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58800" y="1778000"/>
            <a:ext cx="13512800" cy="0"/>
          </a:xfrm>
          <a:prstGeom prst="line">
            <a:avLst/>
          </a:prstGeom>
          <a:ln w="12700">
            <a:solidFill>
              <a:srgbClr val="D5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58800" y="7797800"/>
            <a:ext cx="3175000" cy="1803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48C"/>
                </a:solidFill>
                <a:latin typeface="Noto Sans CJK SC"/>
              </a:rPr>
              <a:t>STATEBUS  /  答辩内容页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0" y="7797800"/>
            <a:ext cx="8890000" cy="1803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48C"/>
                </a:solidFill>
                <a:latin typeface="Noto Sans CJK SC"/>
              </a:rPr>
              <a:t>challenge_runtime_continuation.md（过程示意）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87400" y="7772400"/>
            <a:ext cx="584200" cy="19837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48C"/>
                </a:solidFill>
                <a:latin typeface="Noto Sans CJK SC"/>
              </a:rPr>
              <a:t>13/18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8800" y="2133600"/>
            <a:ext cx="3187700" cy="381000"/>
          </a:xfrm>
          <a:prstGeom prst="roundRect">
            <a:avLst>
              <a:gd name="adj" fmla="val 10000"/>
            </a:avLst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400" y="2184400"/>
            <a:ext cx="2984500" cy="2524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456D6"/>
                </a:solidFill>
                <a:latin typeface="Noto Sans CJK SC"/>
              </a:rPr>
              <a:t>PlanProposal → ApprovedPlan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76700" y="2209800"/>
            <a:ext cx="9994900" cy="30657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41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48C"/>
                </a:solidFill>
                <a:latin typeface="Noto Sans CJK SC"/>
              </a:rPr>
              <a:t>绑定 role / capability / input / output / depends_on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800" y="3162300"/>
            <a:ext cx="2298700" cy="43281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408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7324D"/>
                </a:solidFill>
                <a:latin typeface="Noto Sans CJK SC"/>
              </a:rPr>
              <a:t>调整前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5800" y="3022600"/>
            <a:ext cx="2946400" cy="1168400"/>
          </a:xfrm>
          <a:prstGeom prst="roundRect">
            <a:avLst>
              <a:gd name="adj" fmla="val 5434"/>
            </a:avLst>
          </a:prstGeom>
          <a:solidFill>
            <a:srgbClr val="E9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25800" y="3022600"/>
            <a:ext cx="38100" cy="1168400"/>
          </a:xfrm>
          <a:prstGeom prst="rect">
            <a:avLst/>
          </a:prstGeom>
          <a:solidFill>
            <a:srgbClr val="138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03600" y="3175000"/>
            <a:ext cx="2590800" cy="3967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12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38E84"/>
                </a:solidFill>
                <a:latin typeface="Noto Sans CJK SC"/>
              </a:rPr>
              <a:t>retrieve / 完成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3600" y="3647948"/>
            <a:ext cx="2590800" cy="30657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41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24D"/>
                </a:solidFill>
                <a:latin typeface="Noto Sans CJK SC"/>
              </a:rPr>
              <a:t>保留证据 Ref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5500" y="3022600"/>
            <a:ext cx="2959100" cy="1168400"/>
          </a:xfrm>
          <a:prstGeom prst="roundRect">
            <a:avLst>
              <a:gd name="adj" fmla="val 5434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75500" y="3022600"/>
            <a:ext cx="38100" cy="1168400"/>
          </a:xfrm>
          <a:prstGeom prst="rect">
            <a:avLst/>
          </a:prstGeom>
          <a:solidFill>
            <a:srgbClr val="B94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53300" y="3175000"/>
            <a:ext cx="2603500" cy="3967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12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94A48"/>
                </a:solidFill>
                <a:latin typeface="Noto Sans CJK SC"/>
              </a:rPr>
              <a:t>extract / 失败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53300" y="3647948"/>
            <a:ext cx="2603500" cy="27050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324D"/>
                </a:solidFill>
                <a:latin typeface="Noto Sans CJK SC"/>
              </a:rPr>
              <a:t>本次 attempt 未交付结果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137900" y="3022600"/>
            <a:ext cx="2933700" cy="1168400"/>
          </a:xfrm>
          <a:prstGeom prst="roundRect">
            <a:avLst>
              <a:gd name="adj" fmla="val 5434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137900" y="3022600"/>
            <a:ext cx="38100" cy="1168400"/>
          </a:xfrm>
          <a:prstGeom prst="rect">
            <a:avLst/>
          </a:prstGeom>
          <a:solidFill>
            <a:srgbClr val="61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315700" y="3175000"/>
            <a:ext cx="2578100" cy="3967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12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61748C"/>
                </a:solidFill>
                <a:latin typeface="Noto Sans CJK SC"/>
              </a:rPr>
              <a:t>report / 未执行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15700" y="3647948"/>
            <a:ext cx="2578100" cy="30657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41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24D"/>
                </a:solidFill>
                <a:latin typeface="Noto Sans CJK SC"/>
              </a:rPr>
              <a:t>等待有效输入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172200" y="3606800"/>
            <a:ext cx="1003300" cy="0"/>
          </a:xfrm>
          <a:prstGeom prst="line">
            <a:avLst/>
          </a:prstGeom>
          <a:ln w="22860">
            <a:solidFill>
              <a:srgbClr val="2456D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134600" y="3606800"/>
            <a:ext cx="1003300" cy="0"/>
          </a:xfrm>
          <a:prstGeom prst="line">
            <a:avLst/>
          </a:prstGeom>
          <a:ln w="22860">
            <a:solidFill>
              <a:srgbClr val="6174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636000" y="4191000"/>
            <a:ext cx="0" cy="863600"/>
          </a:xfrm>
          <a:prstGeom prst="line">
            <a:avLst/>
          </a:prstGeom>
          <a:ln w="22860">
            <a:solidFill>
              <a:srgbClr val="B8771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067800" y="4457700"/>
            <a:ext cx="4686300" cy="30657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41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B87717"/>
                </a:solidFill>
                <a:latin typeface="Noto Sans CJK SC"/>
              </a:rPr>
              <a:t>替换待完成的提取路径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8800" y="5372100"/>
            <a:ext cx="2298700" cy="43281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408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7324D"/>
                </a:solidFill>
                <a:latin typeface="Noto Sans CJK SC"/>
              </a:rPr>
              <a:t>调整后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25800" y="5194300"/>
            <a:ext cx="2946400" cy="1168400"/>
          </a:xfrm>
          <a:prstGeom prst="roundRect">
            <a:avLst>
              <a:gd name="adj" fmla="val 5434"/>
            </a:avLst>
          </a:prstGeom>
          <a:solidFill>
            <a:srgbClr val="E9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25800" y="5194300"/>
            <a:ext cx="38100" cy="1168400"/>
          </a:xfrm>
          <a:prstGeom prst="rect">
            <a:avLst/>
          </a:prstGeom>
          <a:solidFill>
            <a:srgbClr val="138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03600" y="5346700"/>
            <a:ext cx="2590800" cy="37871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98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38E84"/>
                </a:solidFill>
                <a:latin typeface="Noto Sans CJK SC"/>
              </a:rPr>
              <a:t>沿用已完成结果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03600" y="5801614"/>
            <a:ext cx="2590800" cy="30657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41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24D"/>
                </a:solidFill>
                <a:latin typeface="Noto Sans CJK SC"/>
              </a:rPr>
              <a:t>retrieve 不再执行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75500" y="5194300"/>
            <a:ext cx="2959100" cy="1168400"/>
          </a:xfrm>
          <a:prstGeom prst="roundRect">
            <a:avLst>
              <a:gd name="adj" fmla="val 5434"/>
            </a:avLst>
          </a:prstGeom>
          <a:solidFill>
            <a:srgbClr val="F9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175500" y="5194300"/>
            <a:ext cx="38100" cy="1168400"/>
          </a:xfrm>
          <a:prstGeom prst="rect">
            <a:avLst/>
          </a:prstGeom>
          <a:solidFill>
            <a:srgbClr val="B87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53300" y="5346700"/>
            <a:ext cx="2603500" cy="3606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84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87717"/>
                </a:solidFill>
                <a:latin typeface="Noto Sans CJK SC"/>
              </a:rPr>
              <a:t>fallback-extract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53300" y="5783580"/>
            <a:ext cx="2603500" cy="30657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41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24D"/>
                </a:solidFill>
                <a:latin typeface="Noto Sans CJK SC"/>
              </a:rPr>
              <a:t>新 attempt 重新执行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137900" y="5194300"/>
            <a:ext cx="2933700" cy="1168400"/>
          </a:xfrm>
          <a:prstGeom prst="roundRect">
            <a:avLst>
              <a:gd name="adj" fmla="val 5434"/>
            </a:avLst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137900" y="5194300"/>
            <a:ext cx="38100" cy="1168400"/>
          </a:xfrm>
          <a:prstGeom prst="rect">
            <a:avLst/>
          </a:prstGeom>
          <a:solidFill>
            <a:srgbClr val="24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315700" y="5346700"/>
            <a:ext cx="2578100" cy="3967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12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456D6"/>
                </a:solidFill>
                <a:latin typeface="Noto Sans CJK SC"/>
              </a:rPr>
              <a:t>report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15700" y="5819648"/>
            <a:ext cx="2578100" cy="30657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41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24D"/>
                </a:solidFill>
                <a:latin typeface="Noto Sans CJK SC"/>
              </a:rPr>
              <a:t>接入新的有效结果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172200" y="5778500"/>
            <a:ext cx="1003300" cy="0"/>
          </a:xfrm>
          <a:prstGeom prst="line">
            <a:avLst/>
          </a:prstGeom>
          <a:ln w="22860">
            <a:solidFill>
              <a:srgbClr val="138E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134600" y="5778500"/>
            <a:ext cx="1003300" cy="0"/>
          </a:xfrm>
          <a:prstGeom prst="line">
            <a:avLst/>
          </a:prstGeom>
          <a:ln w="22860">
            <a:solidFill>
              <a:srgbClr val="2456D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686300" y="4191000"/>
            <a:ext cx="0" cy="1003300"/>
          </a:xfrm>
          <a:prstGeom prst="line">
            <a:avLst/>
          </a:prstGeom>
          <a:ln w="22860">
            <a:solidFill>
              <a:srgbClr val="138E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558800" y="7073900"/>
            <a:ext cx="13512800" cy="533400"/>
          </a:xfrm>
          <a:prstGeom prst="rect">
            <a:avLst/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58800" y="7073900"/>
            <a:ext cx="50800" cy="533400"/>
          </a:xfrm>
          <a:prstGeom prst="rect">
            <a:avLst/>
          </a:prstGeom>
          <a:solidFill>
            <a:srgbClr val="24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2000" y="7162800"/>
            <a:ext cx="130810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324D"/>
                </a:solidFill>
                <a:latin typeface="Noto Sans CJK SC"/>
              </a:rPr>
              <a:t>保留的是已完成步骤的有效结果；替换和重试受能力目录、依赖与预算约束。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6200"/>
          </a:xfrm>
          <a:prstGeom prst="rect">
            <a:avLst/>
          </a:prstGeom>
          <a:solidFill>
            <a:srgbClr val="24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800" y="304800"/>
            <a:ext cx="11430000" cy="2524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456D6"/>
                </a:solidFill>
                <a:latin typeface="Noto Sans CJK SC"/>
              </a:rPr>
              <a:t>技术难点  /  Memory 判断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800" y="685800"/>
            <a:ext cx="13512800" cy="54101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4259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24D"/>
                </a:solidFill>
                <a:latin typeface="Noto Sans CJK SC"/>
              </a:rPr>
              <a:t>历史方法是否可用，要和本轮条件逐项比较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800" y="1295400"/>
            <a:ext cx="135128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1748C"/>
                </a:solidFill>
                <a:latin typeface="Noto Sans CJK SC"/>
              </a:rPr>
              <a:t>输入内容可以变化；方法要求的字段、版本兼容性和输出合同必须成立。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58800" y="1778000"/>
            <a:ext cx="13512800" cy="0"/>
          </a:xfrm>
          <a:prstGeom prst="line">
            <a:avLst/>
          </a:prstGeom>
          <a:ln w="12700">
            <a:solidFill>
              <a:srgbClr val="D5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58800" y="7797800"/>
            <a:ext cx="3175000" cy="1803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48C"/>
                </a:solidFill>
                <a:latin typeface="Noto Sans CJK SC"/>
              </a:rPr>
              <a:t>STATEBUS  /  答辩内容页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0" y="7797800"/>
            <a:ext cx="8890000" cy="1803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48C"/>
                </a:solidFill>
                <a:latin typeface="Noto Sans CJK SC"/>
              </a:rPr>
              <a:t>challenge_memory_reuse.md · mechanisms/results.json（F02）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87400" y="7772400"/>
            <a:ext cx="584200" cy="19837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48C"/>
                </a:solidFill>
                <a:latin typeface="Noto Sans CJK SC"/>
              </a:rPr>
              <a:t>14/18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8800" y="2146300"/>
            <a:ext cx="4572000" cy="381000"/>
          </a:xfrm>
          <a:prstGeom prst="roundRect">
            <a:avLst>
              <a:gd name="adj" fmla="val 10000"/>
            </a:avLst>
          </a:prstGeom>
          <a:solidFill>
            <a:srgbClr val="F1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400" y="2197100"/>
            <a:ext cx="4368800" cy="2524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638F0"/>
                </a:solidFill>
                <a:latin typeface="Noto Sans CJK SC"/>
              </a:rPr>
              <a:t>F02 实测：F01 方法 × 本月输入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800" y="2794000"/>
            <a:ext cx="2514600" cy="3606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84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7324D"/>
                </a:solidFill>
                <a:latin typeface="Noto Sans CJK SC"/>
              </a:rPr>
              <a:t>检查项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75000" y="2794000"/>
            <a:ext cx="3594100" cy="3606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84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7324D"/>
                </a:solidFill>
                <a:latin typeface="Noto Sans CJK SC"/>
              </a:rPr>
              <a:t>历史方法要求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7700" y="2794000"/>
            <a:ext cx="3352800" cy="3606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84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7324D"/>
                </a:solidFill>
                <a:latin typeface="Noto Sans CJK SC"/>
              </a:rPr>
              <a:t>本轮必须确认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58800" y="3289300"/>
            <a:ext cx="9791700" cy="0"/>
          </a:xfrm>
          <a:prstGeom prst="line">
            <a:avLst/>
          </a:prstGeom>
          <a:ln w="12700">
            <a:solidFill>
              <a:srgbClr val="D5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58800" y="3390900"/>
            <a:ext cx="2514600" cy="34264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697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6638F0"/>
                </a:solidFill>
                <a:latin typeface="Noto Sans CJK SC"/>
              </a:rPr>
              <a:t>输入内容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75000" y="3390900"/>
            <a:ext cx="35941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</a:rPr>
              <a:t>F01：1 月数据及来源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7700" y="3390900"/>
            <a:ext cx="33528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</a:rPr>
              <a:t>F02：2 月数据，来源已变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58800" y="4191000"/>
            <a:ext cx="9791700" cy="0"/>
          </a:xfrm>
          <a:prstGeom prst="line">
            <a:avLst/>
          </a:prstGeom>
          <a:ln w="12700">
            <a:solidFill>
              <a:srgbClr val="D5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58800" y="4292600"/>
            <a:ext cx="2514600" cy="34264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697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6638F0"/>
                </a:solidFill>
                <a:latin typeface="Noto Sans CJK SC"/>
              </a:rPr>
              <a:t>执行方法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75000" y="4292600"/>
            <a:ext cx="35941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</a:rPr>
              <a:t>Executor / transform_dsl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7700" y="4292600"/>
            <a:ext cx="33528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</a:rPr>
              <a:t>同类任务合同，获准重算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58800" y="5092700"/>
            <a:ext cx="9791700" cy="0"/>
          </a:xfrm>
          <a:prstGeom prst="line">
            <a:avLst/>
          </a:prstGeom>
          <a:ln w="12700">
            <a:solidFill>
              <a:srgbClr val="D5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58800" y="5194300"/>
            <a:ext cx="2514600" cy="34264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697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6638F0"/>
                </a:solidFill>
                <a:latin typeface="Noto Sans CJK SC"/>
              </a:rPr>
              <a:t>输出合同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75000" y="5194300"/>
            <a:ext cx="35941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</a:rPr>
              <a:t>period / unit_id / 金额列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7700" y="5194300"/>
            <a:ext cx="33528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</a:rPr>
              <a:t>本轮仍要求相同字段与类型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566400" y="3149600"/>
            <a:ext cx="0" cy="3149600"/>
          </a:xfrm>
          <a:prstGeom prst="line">
            <a:avLst/>
          </a:prstGeom>
          <a:ln w="12700">
            <a:solidFill>
              <a:srgbClr val="D5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0909300" y="2362200"/>
            <a:ext cx="3162300" cy="1181100"/>
          </a:xfrm>
          <a:prstGeom prst="roundRect">
            <a:avLst>
              <a:gd name="adj" fmla="val 5376"/>
            </a:avLst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909300" y="2362200"/>
            <a:ext cx="38100" cy="1181100"/>
          </a:xfrm>
          <a:prstGeom prst="rect">
            <a:avLst/>
          </a:prstGeom>
          <a:solidFill>
            <a:srgbClr val="24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87100" y="2514600"/>
            <a:ext cx="2806700" cy="41478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265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456D6"/>
                </a:solidFill>
                <a:latin typeface="Noto Sans CJK SC"/>
              </a:rPr>
              <a:t>ASSIST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87100" y="3005582"/>
            <a:ext cx="2806700" cy="27050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324D"/>
                </a:solidFill>
                <a:latin typeface="Noto Sans CJK SC"/>
              </a:rPr>
              <a:t>可参考；仍自行完成计算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09300" y="3898900"/>
            <a:ext cx="3162300" cy="1358900"/>
          </a:xfrm>
          <a:prstGeom prst="roundRect">
            <a:avLst>
              <a:gd name="adj" fmla="val 4672"/>
            </a:avLst>
          </a:prstGeom>
          <a:solidFill>
            <a:srgbClr val="F1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909300" y="3898900"/>
            <a:ext cx="38100" cy="1358900"/>
          </a:xfrm>
          <a:prstGeom prst="rect">
            <a:avLst/>
          </a:prstGeom>
          <a:solidFill>
            <a:srgbClr val="663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087100" y="4051300"/>
            <a:ext cx="2806700" cy="30657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41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6638F0"/>
                </a:solidFill>
                <a:latin typeface="Noto Sans CJK SC"/>
              </a:rPr>
              <a:t>VALIDATED_REPLAY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87100" y="4434078"/>
            <a:ext cx="2806700" cy="5770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24D"/>
                </a:solidFill>
                <a:latin typeface="Noto Sans CJK SC"/>
              </a:rPr>
              <a:t>用本轮输入重算 recipe</a:t>
            </a:r>
          </a:p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24D"/>
                </a:solidFill>
                <a:latin typeface="Noto Sans CJK SC"/>
              </a:rPr>
              <a:t>产生并验证新 Artifact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909300" y="5626100"/>
            <a:ext cx="3162300" cy="1181100"/>
          </a:xfrm>
          <a:prstGeom prst="roundRect">
            <a:avLst>
              <a:gd name="adj" fmla="val 5376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909300" y="5626100"/>
            <a:ext cx="38100" cy="1181100"/>
          </a:xfrm>
          <a:prstGeom prst="rect">
            <a:avLst/>
          </a:prstGeom>
          <a:solidFill>
            <a:srgbClr val="B94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087100" y="5778500"/>
            <a:ext cx="2806700" cy="41478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265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B94A48"/>
                </a:solidFill>
                <a:latin typeface="Noto Sans CJK SC"/>
              </a:rPr>
              <a:t>REJECT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87100" y="6269482"/>
            <a:ext cx="2806700" cy="27050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324D"/>
                </a:solidFill>
                <a:latin typeface="Noto Sans CJK SC"/>
              </a:rPr>
              <a:t>条件不兼容；不使用候选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8800" y="6223000"/>
            <a:ext cx="9791700" cy="5770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638F0"/>
                </a:solidFill>
                <a:latin typeface="Noto Sans CJK SC"/>
              </a:rPr>
              <a:t>F02 记录：input_lineage_changed → degraded</a:t>
            </a:r>
          </a:p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638F0"/>
                </a:solidFill>
                <a:latin typeface="Noto Sans CJK SC"/>
              </a:rPr>
              <a:t>获准复用方法；current_input_execution_observed = true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8800" y="7073900"/>
            <a:ext cx="13512800" cy="533400"/>
          </a:xfrm>
          <a:prstGeom prst="rect">
            <a:avLst/>
          </a:prstGeom>
          <a:solidFill>
            <a:srgbClr val="F1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58800" y="7073900"/>
            <a:ext cx="50800" cy="533400"/>
          </a:xfrm>
          <a:prstGeom prst="rect">
            <a:avLst/>
          </a:prstGeom>
          <a:solidFill>
            <a:srgbClr val="663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2000" y="7162800"/>
            <a:ext cx="130810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324D"/>
                </a:solidFill>
                <a:latin typeface="Noto Sans CJK SC"/>
              </a:rPr>
              <a:t>三种去向互斥：检索排名只决定先看谁，兼容性和策略决定怎么用。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6200"/>
          </a:xfrm>
          <a:prstGeom prst="rect">
            <a:avLst/>
          </a:prstGeom>
          <a:solidFill>
            <a:srgbClr val="24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800" y="304800"/>
            <a:ext cx="11430000" cy="2524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456D6"/>
                </a:solidFill>
                <a:latin typeface="Noto Sans CJK SC"/>
              </a:rPr>
              <a:t>项目测试  /  设置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800" y="685800"/>
            <a:ext cx="13512800" cy="54101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4259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24D"/>
                </a:solidFill>
                <a:latin typeface="Noto Sans CJK SC"/>
              </a:rPr>
              <a:t>两类连续任务，按相同输入和质量门配对比较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800" y="1295400"/>
            <a:ext cx="135128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1748C"/>
                </a:solidFill>
                <a:latin typeface="Noto Sans CJK SC"/>
              </a:rPr>
              <a:t>finance 与 service_ops 各 12 轮；24 对任务，两种配置共 48 次执行。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58800" y="1778000"/>
            <a:ext cx="13512800" cy="0"/>
          </a:xfrm>
          <a:prstGeom prst="line">
            <a:avLst/>
          </a:prstGeom>
          <a:ln w="12700">
            <a:solidFill>
              <a:srgbClr val="D5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58800" y="7797800"/>
            <a:ext cx="3175000" cy="1803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48C"/>
                </a:solidFill>
                <a:latin typeface="Noto Sans CJK SC"/>
              </a:rPr>
              <a:t>STATEBUS  /  答辩内容页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0" y="7797800"/>
            <a:ext cx="8890000" cy="1803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48C"/>
                </a:solidFill>
                <a:latin typeface="Noto Sans CJK SC"/>
              </a:rPr>
              <a:t>experiments_overview.md · mainline/tasks.csv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87400" y="7772400"/>
            <a:ext cx="584200" cy="19837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48C"/>
                </a:solidFill>
                <a:latin typeface="Noto Sans CJK SC"/>
              </a:rPr>
              <a:t>15/18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800" y="2159000"/>
            <a:ext cx="8851900" cy="4508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55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7324D"/>
                </a:solidFill>
                <a:latin typeface="Noto Sans CJK SC"/>
              </a:rPr>
              <a:t>任务不是 24 个孤立问答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800" y="2819400"/>
            <a:ext cx="2057400" cy="3967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12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456D6"/>
                </a:solidFill>
                <a:latin typeface="Noto Sans CJK SC"/>
              </a:rPr>
              <a:t>finance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44800" y="2755900"/>
            <a:ext cx="3416300" cy="736600"/>
          </a:xfrm>
          <a:prstGeom prst="roundRect">
            <a:avLst>
              <a:gd name="adj" fmla="val 6896"/>
            </a:avLst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46400" y="2971800"/>
            <a:ext cx="3213100" cy="34264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2697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456D6"/>
                </a:solidFill>
                <a:latin typeface="Noto Sans CJK SC"/>
              </a:rPr>
              <a:t>F01 / 1 月核算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61100" y="3124200"/>
            <a:ext cx="317500" cy="0"/>
          </a:xfrm>
          <a:prstGeom prst="line">
            <a:avLst/>
          </a:prstGeom>
          <a:ln w="22860">
            <a:solidFill>
              <a:srgbClr val="2456D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629400" y="2755900"/>
            <a:ext cx="3416300" cy="736600"/>
          </a:xfrm>
          <a:prstGeom prst="roundRect">
            <a:avLst>
              <a:gd name="adj" fmla="val 6896"/>
            </a:avLst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1000" y="2971800"/>
            <a:ext cx="3213100" cy="34264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2697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456D6"/>
                </a:solidFill>
                <a:latin typeface="Noto Sans CJK SC"/>
              </a:rPr>
              <a:t>F02 / 2 月核算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045700" y="3124200"/>
            <a:ext cx="317500" cy="0"/>
          </a:xfrm>
          <a:prstGeom prst="line">
            <a:avLst/>
          </a:prstGeom>
          <a:ln w="22860">
            <a:solidFill>
              <a:srgbClr val="2456D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414000" y="2755900"/>
            <a:ext cx="3416300" cy="736600"/>
          </a:xfrm>
          <a:prstGeom prst="roundRect">
            <a:avLst>
              <a:gd name="adj" fmla="val 6896"/>
            </a:avLst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0" y="2971800"/>
            <a:ext cx="3213100" cy="34264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2697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456D6"/>
                </a:solidFill>
                <a:latin typeface="Noto Sans CJK SC"/>
              </a:rPr>
              <a:t>F03 / 接入前两期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44800" y="3657600"/>
            <a:ext cx="112268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</a:rPr>
              <a:t>收入 / 退款 / 成本 CSV → 按业务单元输出收入、成本和利润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8800" y="4381500"/>
            <a:ext cx="2120900" cy="3967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12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456D6"/>
                </a:solidFill>
                <a:latin typeface="Noto Sans CJK SC"/>
              </a:rPr>
              <a:t>service_ops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44800" y="4292600"/>
            <a:ext cx="3416300" cy="736600"/>
          </a:xfrm>
          <a:prstGeom prst="roundRect">
            <a:avLst>
              <a:gd name="adj" fmla="val 6896"/>
            </a:avLst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46400" y="4508500"/>
            <a:ext cx="3213100" cy="34264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2697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456D6"/>
                </a:solidFill>
                <a:latin typeface="Noto Sans CJK SC"/>
              </a:rPr>
              <a:t>O01 / 第 1 周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261100" y="4660900"/>
            <a:ext cx="317500" cy="0"/>
          </a:xfrm>
          <a:prstGeom prst="line">
            <a:avLst/>
          </a:prstGeom>
          <a:ln w="22860">
            <a:solidFill>
              <a:srgbClr val="2456D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629400" y="4292600"/>
            <a:ext cx="3416300" cy="736600"/>
          </a:xfrm>
          <a:prstGeom prst="roundRect">
            <a:avLst>
              <a:gd name="adj" fmla="val 6896"/>
            </a:avLst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31000" y="4508500"/>
            <a:ext cx="3213100" cy="34264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2697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456D6"/>
                </a:solidFill>
                <a:latin typeface="Noto Sans CJK SC"/>
              </a:rPr>
              <a:t>O02 / 第 2 周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045700" y="4660900"/>
            <a:ext cx="317500" cy="0"/>
          </a:xfrm>
          <a:prstGeom prst="line">
            <a:avLst/>
          </a:prstGeom>
          <a:ln w="22860">
            <a:solidFill>
              <a:srgbClr val="2456D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0414000" y="4292600"/>
            <a:ext cx="3416300" cy="736600"/>
          </a:xfrm>
          <a:prstGeom prst="roundRect">
            <a:avLst>
              <a:gd name="adj" fmla="val 6896"/>
            </a:avLst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0" y="4508500"/>
            <a:ext cx="3213100" cy="34264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2697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456D6"/>
                </a:solidFill>
                <a:latin typeface="Noto Sans CJK SC"/>
              </a:rPr>
              <a:t>O03 / 三周序列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44800" y="5181600"/>
            <a:ext cx="112268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</a:rPr>
              <a:t>站点 hourly CSV → 请求数、最终失败数；后续连接计划与历史结果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58800" y="5803900"/>
            <a:ext cx="13512800" cy="0"/>
          </a:xfrm>
          <a:prstGeom prst="line">
            <a:avLst/>
          </a:prstGeom>
          <a:ln w="12700">
            <a:solidFill>
              <a:srgbClr val="D5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58800" y="5981700"/>
            <a:ext cx="6654800" cy="6131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41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456D6"/>
                </a:solidFill>
                <a:latin typeface="Noto Sans CJK SC"/>
              </a:rPr>
              <a:t>SB-FULL：typed object + State / Memory</a:t>
            </a:r>
          </a:p>
          <a:p>
            <a:pPr algn="l">
              <a:lnSpc>
                <a:spcPts val="241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456D6"/>
                </a:solidFill>
                <a:latin typeface="Noto Sans CJK SC"/>
              </a:rPr>
              <a:t>P-TEXT：JSON text，State / Memory 关闭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20000" y="5981700"/>
            <a:ext cx="6451600" cy="5770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1748C"/>
                </a:solidFill>
                <a:latin typeface="Noto Sans CJK SC"/>
              </a:rPr>
              <a:t>相同文件、任务顺序、输出合同与质量门</a:t>
            </a:r>
          </a:p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1748C"/>
                </a:solidFill>
                <a:latin typeface="Noto Sans CJK SC"/>
              </a:rPr>
              <a:t>openEuler 24.03 LTS-SP3 · Qwen3-32B / vLLM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8800" y="7073900"/>
            <a:ext cx="13512800" cy="533400"/>
          </a:xfrm>
          <a:prstGeom prst="rect">
            <a:avLst/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8800" y="7073900"/>
            <a:ext cx="50800" cy="533400"/>
          </a:xfrm>
          <a:prstGeom prst="rect">
            <a:avLst/>
          </a:prstGeom>
          <a:solidFill>
            <a:srgbClr val="24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2000" y="7162800"/>
            <a:ext cx="130810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324D"/>
                </a:solidFill>
                <a:latin typeface="Noto Sans CJK SC"/>
              </a:rPr>
              <a:t>采集：结果质量与耗时、模型请求与 tokens、对象交接及 State / Memory 事件。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6200"/>
          </a:xfrm>
          <a:prstGeom prst="rect">
            <a:avLst/>
          </a:prstGeom>
          <a:solidFill>
            <a:srgbClr val="24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800" y="304800"/>
            <a:ext cx="11430000" cy="2524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456D6"/>
                </a:solidFill>
                <a:latin typeface="Noto Sans CJK SC"/>
              </a:rPr>
              <a:t>项目测试  /  主线结果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800" y="685800"/>
            <a:ext cx="13512800" cy="54101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4259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24D"/>
                </a:solidFill>
                <a:latin typeface="Noto Sans CJK SC"/>
              </a:rPr>
              <a:t>同样通过 24 项质量门，整体开销下降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800" y="1295400"/>
            <a:ext cx="135128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1748C"/>
                </a:solidFill>
                <a:latin typeface="Noto Sans CJK SC"/>
              </a:rPr>
              <a:t>四项指标分别比较；24 个任务耗时为逐任务 E2E 总和。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58800" y="1778000"/>
            <a:ext cx="13512800" cy="0"/>
          </a:xfrm>
          <a:prstGeom prst="line">
            <a:avLst/>
          </a:prstGeom>
          <a:ln w="12700">
            <a:solidFill>
              <a:srgbClr val="D5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58800" y="7797800"/>
            <a:ext cx="3175000" cy="1803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48C"/>
                </a:solidFill>
                <a:latin typeface="Noto Sans CJK SC"/>
              </a:rPr>
              <a:t>STATEBUS  /  答辩内容页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0" y="7797800"/>
            <a:ext cx="8890000" cy="1803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48C"/>
                </a:solidFill>
                <a:latin typeface="Noto Sans CJK SC"/>
              </a:rPr>
              <a:t>mainline/tasks.csv · results.md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87400" y="7772400"/>
            <a:ext cx="584200" cy="19837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48C"/>
                </a:solidFill>
                <a:latin typeface="Noto Sans CJK SC"/>
              </a:rPr>
              <a:t>16/18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8800" y="2070100"/>
            <a:ext cx="5715000" cy="457200"/>
          </a:xfrm>
          <a:prstGeom prst="roundRect">
            <a:avLst>
              <a:gd name="adj" fmla="val 8333"/>
            </a:avLst>
          </a:prstGeom>
          <a:solidFill>
            <a:srgbClr val="E9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1200" y="2133600"/>
            <a:ext cx="54102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38E84"/>
                </a:solidFill>
                <a:latin typeface="Noto Sans CJK SC"/>
              </a:rPr>
              <a:t>质量：SB-FULL 24/24 · P-TEXT 24/24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9200" y="2146300"/>
            <a:ext cx="2413000" cy="2885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456D6"/>
                </a:solidFill>
                <a:latin typeface="Noto Sans CJK SC"/>
              </a:rPr>
              <a:t>蓝：SB-FULL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80800" y="2146300"/>
            <a:ext cx="2590800" cy="2885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1748C"/>
                </a:solidFill>
                <a:latin typeface="Noto Sans CJK SC"/>
              </a:rPr>
              <a:t>灰：P-TEXT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8800" y="2832100"/>
            <a:ext cx="3175000" cy="3967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12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7324D"/>
                </a:solidFill>
                <a:latin typeface="Noto Sans CJK SC"/>
              </a:rPr>
              <a:t>模型请求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5600" y="2819400"/>
            <a:ext cx="3879215" cy="228600"/>
          </a:xfrm>
          <a:prstGeom prst="rect">
            <a:avLst/>
          </a:prstGeom>
          <a:solidFill>
            <a:srgbClr val="24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65600" y="3213100"/>
            <a:ext cx="5676900" cy="228600"/>
          </a:xfrm>
          <a:prstGeom prst="rect">
            <a:avLst/>
          </a:prstGeom>
          <a:solidFill>
            <a:srgbClr val="CCD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96500" y="2730500"/>
            <a:ext cx="20701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456D6"/>
                </a:solidFill>
                <a:latin typeface="Noto Sans CJK SC"/>
              </a:rPr>
              <a:t>41 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96500" y="3136900"/>
            <a:ext cx="20701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1748C"/>
                </a:solidFill>
                <a:latin typeface="Noto Sans CJK SC"/>
              </a:rPr>
              <a:t>60 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446000" y="2832100"/>
            <a:ext cx="1625600" cy="4508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355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456D6"/>
                </a:solidFill>
                <a:latin typeface="Noto Sans CJK SC"/>
              </a:rPr>
              <a:t>−31.67%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8800" y="3835400"/>
            <a:ext cx="3175000" cy="3967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12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7324D"/>
                </a:solidFill>
                <a:latin typeface="Noto Sans CJK SC"/>
              </a:rPr>
              <a:t>模型总 tokens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65600" y="3822700"/>
            <a:ext cx="3460193" cy="228600"/>
          </a:xfrm>
          <a:prstGeom prst="rect">
            <a:avLst/>
          </a:prstGeom>
          <a:solidFill>
            <a:srgbClr val="24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5600" y="4216400"/>
            <a:ext cx="5676900" cy="228600"/>
          </a:xfrm>
          <a:prstGeom prst="rect">
            <a:avLst/>
          </a:prstGeom>
          <a:solidFill>
            <a:srgbClr val="CCD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96500" y="3733800"/>
            <a:ext cx="20701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456D6"/>
                </a:solidFill>
                <a:latin typeface="Noto Sans CJK SC"/>
              </a:rPr>
              <a:t>74,180 tokens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96500" y="4140200"/>
            <a:ext cx="20701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1748C"/>
                </a:solidFill>
                <a:latin typeface="Noto Sans CJK SC"/>
              </a:rPr>
              <a:t>121,702 tokens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446000" y="3835400"/>
            <a:ext cx="1625600" cy="4508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355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456D6"/>
                </a:solidFill>
                <a:latin typeface="Noto Sans CJK SC"/>
              </a:rPr>
              <a:t>−39.05%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8800" y="4838700"/>
            <a:ext cx="3175000" cy="3967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12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7324D"/>
                </a:solidFill>
                <a:latin typeface="Noto Sans CJK SC"/>
              </a:rPr>
              <a:t>Executor 生成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65600" y="4826000"/>
            <a:ext cx="2680758" cy="228600"/>
          </a:xfrm>
          <a:prstGeom prst="rect">
            <a:avLst/>
          </a:prstGeom>
          <a:solidFill>
            <a:srgbClr val="24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65600" y="5219700"/>
            <a:ext cx="5676900" cy="228600"/>
          </a:xfrm>
          <a:prstGeom prst="rect">
            <a:avLst/>
          </a:prstGeom>
          <a:solidFill>
            <a:srgbClr val="CCD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96500" y="4737100"/>
            <a:ext cx="20701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456D6"/>
                </a:solidFill>
                <a:latin typeface="Noto Sans CJK SC"/>
              </a:rPr>
              <a:t>17 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96500" y="5143500"/>
            <a:ext cx="20701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1748C"/>
                </a:solidFill>
                <a:latin typeface="Noto Sans CJK SC"/>
              </a:rPr>
              <a:t>36 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446000" y="4838700"/>
            <a:ext cx="1625600" cy="4508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355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456D6"/>
                </a:solidFill>
                <a:latin typeface="Noto Sans CJK SC"/>
              </a:rPr>
              <a:t>−52.78%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8800" y="5842000"/>
            <a:ext cx="3175000" cy="3967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12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7324D"/>
                </a:solidFill>
                <a:latin typeface="Noto Sans CJK SC"/>
              </a:rPr>
              <a:t>任务总耗时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65600" y="5829300"/>
            <a:ext cx="4287653" cy="228600"/>
          </a:xfrm>
          <a:prstGeom prst="rect">
            <a:avLst/>
          </a:prstGeom>
          <a:solidFill>
            <a:srgbClr val="24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65600" y="6223000"/>
            <a:ext cx="5676900" cy="228600"/>
          </a:xfrm>
          <a:prstGeom prst="rect">
            <a:avLst/>
          </a:prstGeom>
          <a:solidFill>
            <a:srgbClr val="CCD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96500" y="5740400"/>
            <a:ext cx="20701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456D6"/>
                </a:solidFill>
                <a:latin typeface="Noto Sans CJK SC"/>
              </a:rPr>
              <a:t>1,543.3 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96500" y="6146800"/>
            <a:ext cx="20701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1748C"/>
                </a:solidFill>
                <a:latin typeface="Noto Sans CJK SC"/>
              </a:rPr>
              <a:t>2,043.4 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446000" y="5842000"/>
            <a:ext cx="1625600" cy="4508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355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456D6"/>
                </a:solidFill>
                <a:latin typeface="Noto Sans CJK SC"/>
              </a:rPr>
              <a:t>−24.47%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8800" y="7073900"/>
            <a:ext cx="13512800" cy="533400"/>
          </a:xfrm>
          <a:prstGeom prst="rect">
            <a:avLst/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58800" y="7073900"/>
            <a:ext cx="50800" cy="533400"/>
          </a:xfrm>
          <a:prstGeom prst="rect">
            <a:avLst/>
          </a:prstGeom>
          <a:solidFill>
            <a:srgbClr val="24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2000" y="7162800"/>
            <a:ext cx="130810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324D"/>
                </a:solidFill>
                <a:latin typeface="Noto Sans CJK SC"/>
              </a:rPr>
              <a:t>同一批任务总体比较：请求 −31.67%，tokens −39.05%，生成 −52.78%，耗时 −24.47%。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6200"/>
          </a:xfrm>
          <a:prstGeom prst="rect">
            <a:avLst/>
          </a:prstGeom>
          <a:solidFill>
            <a:srgbClr val="24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800" y="304800"/>
            <a:ext cx="11430000" cy="2524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456D6"/>
                </a:solidFill>
                <a:latin typeface="Noto Sans CJK SC"/>
              </a:rPr>
              <a:t>项目测试  /  运行证据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800" y="685800"/>
            <a:ext cx="13512800" cy="54101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4259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24D"/>
                </a:solidFill>
                <a:latin typeface="Noto Sans CJK SC"/>
              </a:rPr>
              <a:t>主线事件与专项记录，分别证明机制发生过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800" y="1295400"/>
            <a:ext cx="135128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1748C"/>
                </a:solidFill>
                <a:latin typeface="Noto Sans CJK SC"/>
              </a:rPr>
              <a:t>主线 24 对、Memory 专项 8 对、执行 showcase 5 例：三个分母不合并。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58800" y="1778000"/>
            <a:ext cx="13512800" cy="0"/>
          </a:xfrm>
          <a:prstGeom prst="line">
            <a:avLst/>
          </a:prstGeom>
          <a:ln w="12700">
            <a:solidFill>
              <a:srgbClr val="D5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58800" y="7797800"/>
            <a:ext cx="3175000" cy="1803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48C"/>
                </a:solidFill>
                <a:latin typeface="Noto Sans CJK SC"/>
              </a:rPr>
              <a:t>STATEBUS  /  答辩内容页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0" y="7797800"/>
            <a:ext cx="8890000" cy="1803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48C"/>
                </a:solidFill>
                <a:latin typeface="Noto Sans CJK SC"/>
              </a:rPr>
              <a:t>mainline/results.json · mechanisms/results.json · experiments_overview.md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87400" y="7772400"/>
            <a:ext cx="584200" cy="19837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48C"/>
                </a:solidFill>
                <a:latin typeface="Noto Sans CJK SC"/>
              </a:rPr>
              <a:t>17/18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800" y="2159000"/>
            <a:ext cx="4368800" cy="41478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265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456D6"/>
                </a:solidFill>
                <a:latin typeface="Noto Sans CJK SC"/>
              </a:rPr>
              <a:t>01  主线：交接与消费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800" y="2794000"/>
            <a:ext cx="4368800" cy="3606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84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7324D"/>
                </a:solidFill>
                <a:latin typeface="Noto Sans CJK SC"/>
              </a:rPr>
              <a:t>89 条 typed / 108 条 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800" y="3340100"/>
            <a:ext cx="43688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38E84"/>
                </a:solidFill>
                <a:latin typeface="Noto Sans CJK SC"/>
              </a:rPr>
              <a:t>State / SB-FULL 24 次执行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300" y="3784600"/>
            <a:ext cx="37338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38E84"/>
                </a:solidFill>
                <a:latin typeface="Noto Sans CJK SC"/>
              </a:rPr>
              <a:t>publish 24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9600" y="4102100"/>
            <a:ext cx="0" cy="203200"/>
          </a:xfrm>
          <a:prstGeom prst="line">
            <a:avLst/>
          </a:prstGeom>
          <a:ln w="16510">
            <a:solidFill>
              <a:srgbClr val="138E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49300" y="4330700"/>
            <a:ext cx="37338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38E84"/>
                </a:solidFill>
                <a:latin typeface="Noto Sans CJK SC"/>
              </a:rPr>
              <a:t>transfer 24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600" y="4648200"/>
            <a:ext cx="0" cy="203200"/>
          </a:xfrm>
          <a:prstGeom prst="line">
            <a:avLst/>
          </a:prstGeom>
          <a:ln w="16510">
            <a:solidFill>
              <a:srgbClr val="138E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49300" y="4876800"/>
            <a:ext cx="37338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38E84"/>
                </a:solidFill>
                <a:latin typeface="Noto Sans CJK SC"/>
              </a:rPr>
              <a:t>consume 24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9600" y="5194300"/>
            <a:ext cx="0" cy="203200"/>
          </a:xfrm>
          <a:prstGeom prst="line">
            <a:avLst/>
          </a:prstGeom>
          <a:ln w="16510">
            <a:solidFill>
              <a:srgbClr val="138E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49300" y="5422900"/>
            <a:ext cx="37338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38E84"/>
                </a:solidFill>
                <a:latin typeface="Noto Sans CJK SC"/>
              </a:rPr>
              <a:t>release 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8800" y="6172200"/>
            <a:ext cx="4368800" cy="5770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638F0"/>
                </a:solidFill>
                <a:latin typeface="Noto Sans CJK SC"/>
              </a:rPr>
              <a:t>Memory：24 查 → 22 次有候选</a:t>
            </a:r>
          </a:p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638F0"/>
                </a:solidFill>
                <a:latin typeface="Noto Sans CJK SC"/>
              </a:rPr>
              <a:t>共 132 个候选，12 次实际消费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168900" y="2209800"/>
            <a:ext cx="0" cy="4584700"/>
          </a:xfrm>
          <a:prstGeom prst="line">
            <a:avLst/>
          </a:prstGeom>
          <a:ln w="12700">
            <a:solidFill>
              <a:srgbClr val="D5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562600" y="2159000"/>
            <a:ext cx="4102100" cy="41478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265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6638F0"/>
                </a:solidFill>
                <a:latin typeface="Noto Sans CJK SC"/>
              </a:rPr>
              <a:t>02  Memory 专项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62600" y="2641600"/>
            <a:ext cx="4102100" cy="2885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1748C"/>
                </a:solidFill>
                <a:latin typeface="Noto Sans CJK SC"/>
              </a:rPr>
              <a:t>8 个 on + 8 个 off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62600" y="3263900"/>
            <a:ext cx="3048000" cy="30657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41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24D"/>
                </a:solidFill>
                <a:latin typeface="Noto Sans CJK SC"/>
              </a:rPr>
              <a:t>检索命中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0800" y="3263900"/>
            <a:ext cx="660400" cy="30657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241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6638F0"/>
                </a:solidFill>
                <a:latin typeface="Noto Sans CJK SC"/>
              </a:rPr>
              <a:t>6/8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62600" y="3632200"/>
            <a:ext cx="4038600" cy="114300"/>
          </a:xfrm>
          <a:prstGeom prst="rect">
            <a:avLst/>
          </a:prstGeom>
          <a:solidFill>
            <a:srgbClr val="D5E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562600" y="3632200"/>
            <a:ext cx="3028950" cy="114300"/>
          </a:xfrm>
          <a:prstGeom prst="rect">
            <a:avLst/>
          </a:prstGeom>
          <a:solidFill>
            <a:srgbClr val="663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62600" y="4000500"/>
            <a:ext cx="3048000" cy="30657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41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24D"/>
                </a:solidFill>
                <a:latin typeface="Noto Sans CJK SC"/>
              </a:rPr>
              <a:t>实际消费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40800" y="4000500"/>
            <a:ext cx="660400" cy="30657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241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6638F0"/>
                </a:solidFill>
                <a:latin typeface="Noto Sans CJK SC"/>
              </a:rPr>
              <a:t>4/8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62600" y="4368800"/>
            <a:ext cx="4038600" cy="114300"/>
          </a:xfrm>
          <a:prstGeom prst="rect">
            <a:avLst/>
          </a:prstGeom>
          <a:solidFill>
            <a:srgbClr val="D5E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562600" y="4368800"/>
            <a:ext cx="2019300" cy="114300"/>
          </a:xfrm>
          <a:prstGeom prst="rect">
            <a:avLst/>
          </a:prstGeom>
          <a:solidFill>
            <a:srgbClr val="663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62600" y="4737100"/>
            <a:ext cx="3048000" cy="30657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41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24D"/>
                </a:solidFill>
                <a:latin typeface="Noto Sans CJK SC"/>
              </a:rPr>
              <a:t>验证重放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40800" y="4737100"/>
            <a:ext cx="660400" cy="30657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241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6638F0"/>
                </a:solidFill>
                <a:latin typeface="Noto Sans CJK SC"/>
              </a:rPr>
              <a:t>4/8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62600" y="5105400"/>
            <a:ext cx="4038600" cy="114300"/>
          </a:xfrm>
          <a:prstGeom prst="rect">
            <a:avLst/>
          </a:prstGeom>
          <a:solidFill>
            <a:srgbClr val="D5E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62600" y="5105400"/>
            <a:ext cx="2019300" cy="114300"/>
          </a:xfrm>
          <a:prstGeom prst="rect">
            <a:avLst/>
          </a:prstGeom>
          <a:solidFill>
            <a:srgbClr val="663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62600" y="5473700"/>
            <a:ext cx="3048000" cy="30657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41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24D"/>
                </a:solidFill>
                <a:latin typeface="Noto Sans CJK SC"/>
              </a:rPr>
              <a:t>省去重复生成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40800" y="5473700"/>
            <a:ext cx="660400" cy="30657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241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6638F0"/>
                </a:solidFill>
                <a:latin typeface="Noto Sans CJK SC"/>
              </a:rPr>
              <a:t>4/8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62600" y="5842000"/>
            <a:ext cx="4038600" cy="114300"/>
          </a:xfrm>
          <a:prstGeom prst="rect">
            <a:avLst/>
          </a:prstGeom>
          <a:solidFill>
            <a:srgbClr val="D5E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562600" y="5842000"/>
            <a:ext cx="2019300" cy="114300"/>
          </a:xfrm>
          <a:prstGeom prst="rect">
            <a:avLst/>
          </a:prstGeom>
          <a:solidFill>
            <a:srgbClr val="663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562600" y="6311900"/>
            <a:ext cx="4102100" cy="30657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41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6638F0"/>
                </a:solidFill>
                <a:latin typeface="Noto Sans CJK SC"/>
              </a:rPr>
              <a:t>仍执行 recipe 并验证新结果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969500" y="2209800"/>
            <a:ext cx="0" cy="4584700"/>
          </a:xfrm>
          <a:prstGeom prst="line">
            <a:avLst/>
          </a:prstGeom>
          <a:ln w="12700">
            <a:solidFill>
              <a:srgbClr val="D5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0350500" y="2159000"/>
            <a:ext cx="3721100" cy="41478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265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38E84"/>
                </a:solidFill>
                <a:latin typeface="Noto Sans CJK SC"/>
              </a:rPr>
              <a:t>03  执行 showcase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50500" y="2806700"/>
            <a:ext cx="3721100" cy="3606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84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38E84"/>
                </a:solidFill>
                <a:latin typeface="Noto Sans CJK SC"/>
              </a:rPr>
              <a:t>DSL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50500" y="3238500"/>
            <a:ext cx="3721100" cy="52298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4118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7324D"/>
                </a:solidFill>
                <a:latin typeface="Noto Sans CJK SC"/>
              </a:rPr>
              <a:t>2 / 3 通过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50500" y="4013200"/>
            <a:ext cx="3721100" cy="3606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84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87717"/>
                </a:solidFill>
                <a:latin typeface="Noto Sans CJK SC"/>
              </a:rPr>
              <a:t>CodeAct fallback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50500" y="4470400"/>
            <a:ext cx="3721100" cy="52298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4118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7324D"/>
                </a:solidFill>
                <a:latin typeface="Noto Sans CJK SC"/>
              </a:rPr>
              <a:t>2 / 2 通过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50500" y="5372100"/>
            <a:ext cx="3721100" cy="6131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41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48C"/>
                </a:solidFill>
                <a:latin typeface="Noto Sans CJK SC"/>
              </a:rPr>
              <a:t>独立的 5 个样例</a:t>
            </a:r>
          </a:p>
          <a:p>
            <a:pPr algn="l">
              <a:lnSpc>
                <a:spcPts val="241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48C"/>
                </a:solidFill>
                <a:latin typeface="Noto Sans CJK SC"/>
              </a:rPr>
              <a:t>不能当作主线成功率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8800" y="7073900"/>
            <a:ext cx="13512800" cy="533400"/>
          </a:xfrm>
          <a:prstGeom prst="rect">
            <a:avLst/>
          </a:prstGeom>
          <a:solidFill>
            <a:srgbClr val="F1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58800" y="7073900"/>
            <a:ext cx="50800" cy="533400"/>
          </a:xfrm>
          <a:prstGeom prst="rect">
            <a:avLst/>
          </a:prstGeom>
          <a:solidFill>
            <a:srgbClr val="663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62000" y="7162800"/>
            <a:ext cx="130810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324D"/>
                </a:solidFill>
                <a:latin typeface="Noto Sans CJK SC"/>
              </a:rPr>
              <a:t>F02 记录：历史方法来自 F01；当前输入确实执行；减少的是重复生成请求。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6200"/>
          </a:xfrm>
          <a:prstGeom prst="rect">
            <a:avLst/>
          </a:prstGeom>
          <a:solidFill>
            <a:srgbClr val="24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800" y="304800"/>
            <a:ext cx="11430000" cy="2524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456D6"/>
                </a:solidFill>
                <a:latin typeface="Noto Sans CJK SC"/>
              </a:rPr>
              <a:t>项目测试  /  专项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800" y="685800"/>
            <a:ext cx="13512800" cy="54101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4259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24D"/>
                </a:solidFill>
                <a:latin typeface="Noto Sans CJK SC"/>
              </a:rPr>
              <a:t>四组专项：机制被使用，局部收益各有边界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800" y="1295400"/>
            <a:ext cx="135128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1748C"/>
                </a:solidFill>
                <a:latin typeface="Noto Sans CJK SC"/>
              </a:rPr>
              <a:t>每组独立任务、开关和分母；下列局部指标不与主线总耗时合并。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58800" y="1778000"/>
            <a:ext cx="13512800" cy="0"/>
          </a:xfrm>
          <a:prstGeom prst="line">
            <a:avLst/>
          </a:prstGeom>
          <a:ln w="12700">
            <a:solidFill>
              <a:srgbClr val="D5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58800" y="7797800"/>
            <a:ext cx="3175000" cy="1803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48C"/>
                </a:solidFill>
                <a:latin typeface="Noto Sans CJK SC"/>
              </a:rPr>
              <a:t>STATEBUS  /  答辩内容页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0" y="7797800"/>
            <a:ext cx="8890000" cy="1803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48C"/>
                </a:solidFill>
                <a:latin typeface="Noto Sans CJK SC"/>
              </a:rPr>
              <a:t>results.md · model-assist/summary.md · mechanisms/results.json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87400" y="7772400"/>
            <a:ext cx="584200" cy="19837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48C"/>
                </a:solidFill>
                <a:latin typeface="Noto Sans CJK SC"/>
              </a:rPr>
              <a:t>18/18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0" y="2146300"/>
            <a:ext cx="0" cy="4699000"/>
          </a:xfrm>
          <a:prstGeom prst="line">
            <a:avLst/>
          </a:prstGeom>
          <a:ln w="12700">
            <a:solidFill>
              <a:srgbClr val="D5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58800" y="4559300"/>
            <a:ext cx="13512800" cy="0"/>
          </a:xfrm>
          <a:prstGeom prst="line">
            <a:avLst/>
          </a:prstGeom>
          <a:ln w="12700">
            <a:solidFill>
              <a:srgbClr val="D5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58800" y="2146300"/>
            <a:ext cx="6375400" cy="41478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265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38E84"/>
                </a:solidFill>
                <a:latin typeface="Noto Sans CJK SC"/>
              </a:rPr>
              <a:t>Embedding / State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8800" y="2717800"/>
            <a:ext cx="1917700" cy="508000"/>
          </a:xfrm>
          <a:prstGeom prst="roundRect">
            <a:avLst>
              <a:gd name="adj" fmla="val 10000"/>
            </a:avLst>
          </a:prstGeom>
          <a:solidFill>
            <a:srgbClr val="E9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2933700"/>
            <a:ext cx="1714500" cy="2885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38E84"/>
                </a:solidFill>
                <a:latin typeface="Noto Sans CJK SC"/>
              </a:rPr>
              <a:t>选 row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76500" y="2971800"/>
            <a:ext cx="254000" cy="0"/>
          </a:xfrm>
          <a:prstGeom prst="line">
            <a:avLst/>
          </a:prstGeom>
          <a:ln w="22860">
            <a:solidFill>
              <a:srgbClr val="138E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781300" y="2717800"/>
            <a:ext cx="1917700" cy="508000"/>
          </a:xfrm>
          <a:prstGeom prst="roundRect">
            <a:avLst>
              <a:gd name="adj" fmla="val 10000"/>
            </a:avLst>
          </a:prstGeom>
          <a:solidFill>
            <a:srgbClr val="E9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2900" y="2933700"/>
            <a:ext cx="1714500" cy="2885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38E84"/>
                </a:solidFill>
                <a:latin typeface="Noto Sans CJK SC"/>
              </a:rPr>
              <a:t>查 manifest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699000" y="2971800"/>
            <a:ext cx="254000" cy="0"/>
          </a:xfrm>
          <a:prstGeom prst="line">
            <a:avLst/>
          </a:prstGeom>
          <a:ln w="22860">
            <a:solidFill>
              <a:srgbClr val="138E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03800" y="2717800"/>
            <a:ext cx="1917700" cy="508000"/>
          </a:xfrm>
          <a:prstGeom prst="roundRect">
            <a:avLst>
              <a:gd name="adj" fmla="val 10000"/>
            </a:avLst>
          </a:prstGeom>
          <a:solidFill>
            <a:srgbClr val="E9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05400" y="2933700"/>
            <a:ext cx="1714500" cy="2885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38E84"/>
                </a:solidFill>
                <a:latin typeface="Noto Sans CJK SC"/>
              </a:rPr>
              <a:t>回到原文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8800" y="3365500"/>
            <a:ext cx="6375400" cy="2885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1748C"/>
                </a:solidFill>
                <a:latin typeface="Noto Sans CJK SC"/>
              </a:rPr>
              <a:t>4 个任务 × off/on = 8 次；on 为 4 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8800" y="3759200"/>
            <a:ext cx="63754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38E84"/>
                </a:solidFill>
                <a:latin typeface="Noto Sans CJK SC"/>
              </a:rPr>
              <a:t>发布 / 传递 / 消费各 10 次；释放 4/4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8800" y="4165600"/>
            <a:ext cx="6375400" cy="2885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1748C"/>
                </a:solidFill>
                <a:latin typeface="Noto Sans CJK SC"/>
              </a:rPr>
              <a:t>1/4 任务观察到下游选择改变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1600" y="2146300"/>
            <a:ext cx="6350000" cy="41478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265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B87717"/>
                </a:solidFill>
                <a:latin typeface="Noto Sans CJK SC"/>
              </a:rPr>
              <a:t>Logit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21600" y="2717800"/>
            <a:ext cx="1917700" cy="508000"/>
          </a:xfrm>
          <a:prstGeom prst="roundRect">
            <a:avLst>
              <a:gd name="adj" fmla="val 10000"/>
            </a:avLst>
          </a:prstGeom>
          <a:solidFill>
            <a:srgbClr val="F9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23200" y="2933700"/>
            <a:ext cx="1714500" cy="2885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87717"/>
                </a:solidFill>
                <a:latin typeface="Noto Sans CJK SC"/>
              </a:rPr>
              <a:t>概率信号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639300" y="2971800"/>
            <a:ext cx="254000" cy="0"/>
          </a:xfrm>
          <a:prstGeom prst="line">
            <a:avLst/>
          </a:prstGeom>
          <a:ln w="22860">
            <a:solidFill>
              <a:srgbClr val="B8771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944100" y="2717800"/>
            <a:ext cx="1917700" cy="508000"/>
          </a:xfrm>
          <a:prstGeom prst="roundRect">
            <a:avLst>
              <a:gd name="adj" fmla="val 10000"/>
            </a:avLst>
          </a:prstGeom>
          <a:solidFill>
            <a:srgbClr val="F9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45700" y="2933700"/>
            <a:ext cx="1714500" cy="2885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87717"/>
                </a:solidFill>
                <a:latin typeface="Noto Sans CJK SC"/>
              </a:rPr>
              <a:t>按需展开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1861800" y="2971800"/>
            <a:ext cx="254000" cy="0"/>
          </a:xfrm>
          <a:prstGeom prst="line">
            <a:avLst/>
          </a:prstGeom>
          <a:ln w="22860">
            <a:solidFill>
              <a:srgbClr val="B8771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2166600" y="2717800"/>
            <a:ext cx="1917700" cy="508000"/>
          </a:xfrm>
          <a:prstGeom prst="roundRect">
            <a:avLst>
              <a:gd name="adj" fmla="val 10000"/>
            </a:avLst>
          </a:prstGeom>
          <a:solidFill>
            <a:srgbClr val="F9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268200" y="2933700"/>
            <a:ext cx="1714500" cy="2885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87717"/>
                </a:solidFill>
                <a:latin typeface="Noto Sans CJK SC"/>
              </a:rPr>
              <a:t>选择 / 弃答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1600" y="3365500"/>
            <a:ext cx="6350000" cy="2885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1748C"/>
                </a:solidFill>
                <a:latin typeface="Noto Sans CJK SC"/>
              </a:rPr>
              <a:t>4 个 case × 3 种模式 = 12 次执行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1600" y="3759200"/>
            <a:ext cx="63500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87717"/>
                </a:solidFill>
                <a:latin typeface="Noto Sans CJK SC"/>
              </a:rPr>
              <a:t>3 个 resolved：logical input −75.21%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21600" y="4165600"/>
            <a:ext cx="6350000" cy="2885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1748C"/>
                </a:solidFill>
                <a:latin typeface="Noto Sans CJK SC"/>
              </a:rPr>
              <a:t>compact/selective 对 full；另 1 例展开后弃答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8800" y="4826000"/>
            <a:ext cx="6375400" cy="41478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265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B87717"/>
                </a:solidFill>
                <a:latin typeface="Noto Sans CJK SC"/>
              </a:rPr>
              <a:t>显式 KV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58800" y="5372100"/>
            <a:ext cx="1917700" cy="508000"/>
          </a:xfrm>
          <a:prstGeom prst="roundRect">
            <a:avLst>
              <a:gd name="adj" fmla="val 10000"/>
            </a:avLst>
          </a:prstGeom>
          <a:solidFill>
            <a:srgbClr val="F9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0400" y="5588000"/>
            <a:ext cx="1714500" cy="2885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87717"/>
                </a:solidFill>
                <a:latin typeface="Noto Sans CJK SC"/>
              </a:rPr>
              <a:t>capture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476500" y="5626100"/>
            <a:ext cx="254000" cy="0"/>
          </a:xfrm>
          <a:prstGeom prst="line">
            <a:avLst/>
          </a:prstGeom>
          <a:ln w="22860">
            <a:solidFill>
              <a:srgbClr val="B8771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2781300" y="5372100"/>
            <a:ext cx="1917700" cy="508000"/>
          </a:xfrm>
          <a:prstGeom prst="roundRect">
            <a:avLst>
              <a:gd name="adj" fmla="val 10000"/>
            </a:avLst>
          </a:prstGeom>
          <a:solidFill>
            <a:srgbClr val="F9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82900" y="5588000"/>
            <a:ext cx="1714500" cy="2885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87717"/>
                </a:solidFill>
                <a:latin typeface="Noto Sans CJK SC"/>
              </a:rPr>
              <a:t>本地 handle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699000" y="5626100"/>
            <a:ext cx="254000" cy="0"/>
          </a:xfrm>
          <a:prstGeom prst="line">
            <a:avLst/>
          </a:prstGeom>
          <a:ln w="22860">
            <a:solidFill>
              <a:srgbClr val="B8771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5003800" y="5372100"/>
            <a:ext cx="1917700" cy="508000"/>
          </a:xfrm>
          <a:prstGeom prst="roundRect">
            <a:avLst>
              <a:gd name="adj" fmla="val 10000"/>
            </a:avLst>
          </a:prstGeom>
          <a:solidFill>
            <a:srgbClr val="F9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05400" y="5588000"/>
            <a:ext cx="1714500" cy="2885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87717"/>
                </a:solidFill>
                <a:latin typeface="Noto Sans CJK SC"/>
              </a:rPr>
              <a:t>load + suffix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8800" y="6045200"/>
            <a:ext cx="6375400" cy="2885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1748C"/>
                </a:solidFill>
                <a:latin typeface="Noto Sans CJK SC"/>
              </a:rPr>
              <a:t>4 对 / 8 次：full replay vs continuation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8800" y="6438900"/>
            <a:ext cx="63754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87717"/>
                </a:solidFill>
                <a:latin typeface="Noto Sans CJK SC"/>
              </a:rPr>
              <a:t>prefill −90.37%  /  完整任务耗时 −3.58%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21600" y="4826000"/>
            <a:ext cx="1778000" cy="41478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265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B87717"/>
                </a:solidFill>
                <a:latin typeface="Noto Sans CJK SC"/>
              </a:rPr>
              <a:t>APC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79000" y="4902200"/>
            <a:ext cx="4292600" cy="2885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87717"/>
                </a:solidFill>
                <a:latin typeface="Noto Sans CJK SC"/>
              </a:rPr>
              <a:t>平均 hit tokens：48 → 5,168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721600" y="5372100"/>
            <a:ext cx="1917700" cy="508000"/>
          </a:xfrm>
          <a:prstGeom prst="roundRect">
            <a:avLst>
              <a:gd name="adj" fmla="val 10000"/>
            </a:avLst>
          </a:prstGeom>
          <a:solidFill>
            <a:srgbClr val="F9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23200" y="5588000"/>
            <a:ext cx="1714500" cy="2885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87717"/>
                </a:solidFill>
                <a:latin typeface="Noto Sans CJK SC"/>
              </a:rPr>
              <a:t>相同前缀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639300" y="5626100"/>
            <a:ext cx="254000" cy="0"/>
          </a:xfrm>
          <a:prstGeom prst="line">
            <a:avLst/>
          </a:prstGeom>
          <a:ln w="22860">
            <a:solidFill>
              <a:srgbClr val="B8771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9944100" y="5372100"/>
            <a:ext cx="1917700" cy="508000"/>
          </a:xfrm>
          <a:prstGeom prst="roundRect">
            <a:avLst>
              <a:gd name="adj" fmla="val 10000"/>
            </a:avLst>
          </a:prstGeom>
          <a:solidFill>
            <a:srgbClr val="F9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045700" y="5588000"/>
            <a:ext cx="1714500" cy="2885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87717"/>
                </a:solidFill>
                <a:latin typeface="Noto Sans CJK SC"/>
              </a:rPr>
              <a:t>引擎命中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1861800" y="5626100"/>
            <a:ext cx="254000" cy="0"/>
          </a:xfrm>
          <a:prstGeom prst="line">
            <a:avLst/>
          </a:prstGeom>
          <a:ln w="22860">
            <a:solidFill>
              <a:srgbClr val="B8771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12166600" y="5372100"/>
            <a:ext cx="1917700" cy="508000"/>
          </a:xfrm>
          <a:prstGeom prst="roundRect">
            <a:avLst>
              <a:gd name="adj" fmla="val 10000"/>
            </a:avLst>
          </a:prstGeom>
          <a:solidFill>
            <a:srgbClr val="F9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2268200" y="5588000"/>
            <a:ext cx="1714500" cy="2885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87717"/>
                </a:solidFill>
                <a:latin typeface="Noto Sans CJK SC"/>
              </a:rPr>
              <a:t>首 token 返回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21600" y="6045200"/>
            <a:ext cx="6350000" cy="2885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1748C"/>
                </a:solidFill>
                <a:latin typeface="Noto Sans CJK SC"/>
              </a:rPr>
              <a:t>4 对 / 8 次：independent vs shared prefix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21600" y="6438900"/>
            <a:ext cx="63500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87717"/>
                </a:solidFill>
                <a:latin typeface="Noto Sans CJK SC"/>
              </a:rPr>
              <a:t>TTFT −89.59%  /  完整任务耗时 −4.29%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58800" y="7073900"/>
            <a:ext cx="13512800" cy="533400"/>
          </a:xfrm>
          <a:prstGeom prst="rect">
            <a:avLst/>
          </a:prstGeom>
          <a:solidFill>
            <a:srgbClr val="E9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58800" y="7073900"/>
            <a:ext cx="50800" cy="533400"/>
          </a:xfrm>
          <a:prstGeom prst="rect">
            <a:avLst/>
          </a:prstGeom>
          <a:solidFill>
            <a:srgbClr val="138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62000" y="7162800"/>
            <a:ext cx="13081000" cy="3246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324D"/>
                </a:solidFill>
                <a:latin typeface="Noto Sans CJK SC"/>
              </a:rPr>
              <a:t>State 证明状态被消费；Logit 控制取证预算；KV / APC 复用计算，但整项任务收益较小。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StateBus：结构化交接、非文本状态与共享记忆</dc:title>
  <dc:subject>18 页内容页 · 重构版</dc:subject>
  <dc:creator>StateBus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